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8" r:id="rId7"/>
    <p:sldId id="269" r:id="rId8"/>
    <p:sldId id="280" r:id="rId9"/>
    <p:sldId id="265" r:id="rId10"/>
    <p:sldId id="270" r:id="rId11"/>
    <p:sldId id="274" r:id="rId12"/>
    <p:sldId id="277" r:id="rId13"/>
    <p:sldId id="276" r:id="rId14"/>
    <p:sldId id="279" r:id="rId15"/>
    <p:sldId id="282" r:id="rId16"/>
    <p:sldId id="283" r:id="rId17"/>
    <p:sldId id="284" r:id="rId18"/>
    <p:sldId id="285" r:id="rId19"/>
    <p:sldId id="287" r:id="rId20"/>
    <p:sldId id="289" r:id="rId21"/>
    <p:sldId id="290" r:id="rId22"/>
    <p:sldId id="291" r:id="rId23"/>
  </p:sldIdLst>
  <p:sldSz cx="9144000" cy="5143500" type="screen16x9"/>
  <p:notesSz cx="6858000" cy="9144000"/>
  <p:embeddedFontLst>
    <p:embeddedFont>
      <p:font typeface="Roboto Mono Medium" panose="020B0604020202020204" charset="0"/>
      <p:regular r:id="rId25"/>
      <p:bold r:id="rId26"/>
      <p:italic r:id="rId27"/>
      <p:boldItalic r:id="rId28"/>
    </p:embeddedFont>
    <p:embeddedFont>
      <p:font typeface="Anonymous Pro" panose="020B0604020202020204" charset="0"/>
      <p:regular r:id="rId29"/>
      <p:bold r:id="rId30"/>
      <p:italic r:id="rId31"/>
      <p:boldItalic r:id="rId32"/>
    </p:embeddedFont>
    <p:embeddedFont>
      <p:font typeface="Coming Soon" panose="020B0604020202020204" charset="0"/>
      <p:regular r:id="rId33"/>
    </p:embeddedFont>
    <p:embeddedFont>
      <p:font typeface="Concert One" panose="020B0604020202020204" charset="0"/>
      <p:regular r:id="rId34"/>
    </p:embeddedFont>
    <p:embeddedFont>
      <p:font typeface="Roboto Mono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0C7073-D615-498D-99BC-A4CF3923EDD4}">
  <a:tblStyle styleId="{740C7073-D615-498D-99BC-A4CF3923ED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62" autoAdjust="0"/>
    <p:restoredTop sz="94660"/>
  </p:normalViewPr>
  <p:slideViewPr>
    <p:cSldViewPr snapToGrid="0">
      <p:cViewPr varScale="1">
        <p:scale>
          <a:sx n="97" d="100"/>
          <a:sy n="97" d="100"/>
        </p:scale>
        <p:origin x="57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37307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7980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777e31443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777e31443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9614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3430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6918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209571f4d9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209571f4d9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8022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209571f4d9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209571f4d9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1784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8506521a88_4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8506521a88_4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750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209571f4d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209571f4d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0298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209571f4d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209571f4d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852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209571f4d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209571f4d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1540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853034354b_0_24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853034354b_0_24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2972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1209571f4d9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1209571f4d9_0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1519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853034354b_0_247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853034354b_0_247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3007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1209571f4d9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1209571f4d9_0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2642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209571f4d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209571f4d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0009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209571f4d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209571f4d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425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209571f4d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209571f4d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8146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209571f4d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209571f4d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08353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209571f4d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209571f4d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9360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209571f4d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209571f4d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3942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836900" y="711175"/>
            <a:ext cx="547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1398275" y="1401825"/>
            <a:ext cx="6963300" cy="30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SzPts val="1250"/>
              <a:buFont typeface="Concert One"/>
              <a:buAutoNum type="arabicPeriod"/>
              <a:defRPr sz="950">
                <a:solidFill>
                  <a:schemeClr val="dk2"/>
                </a:solidFill>
              </a:defRPr>
            </a:lvl1pPr>
            <a:lvl2pPr marL="914400" lvl="1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lphaLcPeriod"/>
              <a:defRPr sz="950">
                <a:solidFill>
                  <a:schemeClr val="dk2"/>
                </a:solidFill>
              </a:defRPr>
            </a:lvl2pPr>
            <a:lvl3pPr marL="1371600" lvl="2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romanLcPeriod"/>
              <a:defRPr sz="950">
                <a:solidFill>
                  <a:schemeClr val="dk2"/>
                </a:solidFill>
              </a:defRPr>
            </a:lvl3pPr>
            <a:lvl4pPr marL="1828800" lvl="3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rabicPeriod"/>
              <a:defRPr sz="950">
                <a:solidFill>
                  <a:schemeClr val="dk2"/>
                </a:solidFill>
              </a:defRPr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lphaLcPeriod"/>
              <a:defRPr sz="950">
                <a:solidFill>
                  <a:schemeClr val="dk2"/>
                </a:solidFill>
              </a:defRPr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romanLcPeriod"/>
              <a:defRPr sz="950">
                <a:solidFill>
                  <a:schemeClr val="dk2"/>
                </a:solidFill>
              </a:defRPr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rabicPeriod"/>
              <a:defRPr sz="950">
                <a:solidFill>
                  <a:schemeClr val="dk2"/>
                </a:solidFill>
              </a:defRPr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lphaLcPeriod"/>
              <a:defRPr sz="950">
                <a:solidFill>
                  <a:schemeClr val="dk2"/>
                </a:solidFill>
              </a:defRPr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Clr>
                <a:srgbClr val="4D719D"/>
              </a:buClr>
              <a:buSzPts val="1000"/>
              <a:buFont typeface="Muli"/>
              <a:buAutoNum type="romanLcPeriod"/>
              <a:defRPr sz="95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996375" y="1900525"/>
            <a:ext cx="29016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marL="914400" lvl="1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1629950" y="3828100"/>
            <a:ext cx="23325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cert One"/>
              <a:buNone/>
              <a:defRPr sz="1600"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5044725" y="539500"/>
            <a:ext cx="3224400" cy="40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1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1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4748475" y="48065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1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5339025" y="5954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1"/>
          <p:cNvPicPr preferRelativeResize="0"/>
          <p:nvPr/>
        </p:nvPicPr>
        <p:blipFill rotWithShape="1">
          <a:blip r:embed="rId4">
            <a:alphaModFix/>
          </a:blip>
          <a:srcRect b="7123"/>
          <a:stretch/>
        </p:blipFill>
        <p:spPr>
          <a:xfrm>
            <a:off x="1974100" y="324738"/>
            <a:ext cx="5195775" cy="44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 txBox="1">
            <a:spLocks noGrp="1"/>
          </p:cNvSpPr>
          <p:nvPr>
            <p:ph type="title" hasCustomPrompt="1"/>
          </p:nvPr>
        </p:nvSpPr>
        <p:spPr>
          <a:xfrm>
            <a:off x="2838275" y="1645347"/>
            <a:ext cx="40017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3335675" y="3062950"/>
            <a:ext cx="30069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2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3"/>
          </p:nvPr>
        </p:nvSpPr>
        <p:spPr>
          <a:xfrm>
            <a:off x="5340612" y="21612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4"/>
          </p:nvPr>
        </p:nvSpPr>
        <p:spPr>
          <a:xfrm>
            <a:off x="907470" y="3221098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5"/>
          </p:nvPr>
        </p:nvSpPr>
        <p:spPr>
          <a:xfrm>
            <a:off x="929350" y="36858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6"/>
          </p:nvPr>
        </p:nvSpPr>
        <p:spPr>
          <a:xfrm>
            <a:off x="5318730" y="3221098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7"/>
          </p:nvPr>
        </p:nvSpPr>
        <p:spPr>
          <a:xfrm>
            <a:off x="5340612" y="3685874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8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_2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>
            <a:spLocks noGrp="1"/>
          </p:cNvSpPr>
          <p:nvPr>
            <p:ph type="title" hasCustomPrompt="1"/>
          </p:nvPr>
        </p:nvSpPr>
        <p:spPr>
          <a:xfrm>
            <a:off x="5040600" y="1012388"/>
            <a:ext cx="28260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4973225" y="3061013"/>
            <a:ext cx="3006900" cy="10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marL="1371600" lvl="2" indent="-34290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marL="1828800" lvl="3" indent="-34290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marL="2286000" lvl="4" indent="-34290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marL="2743200" lvl="5" indent="-34290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marL="3200400" lvl="6" indent="-34290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marL="3657600" lvl="7" indent="-34290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marL="4114800" lvl="8" indent="-342900" algn="ctr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2"/>
          </p:nvPr>
        </p:nvSpPr>
        <p:spPr>
          <a:xfrm>
            <a:off x="4973225" y="2278000"/>
            <a:ext cx="30069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1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_COLUMN_TEXT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2649000" y="2142600"/>
            <a:ext cx="3846000" cy="18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marL="914400" lvl="1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27075" y="1366750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534900" y="2495013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1"/>
          </p:nvPr>
        </p:nvSpPr>
        <p:spPr>
          <a:xfrm>
            <a:off x="799650" y="3241096"/>
            <a:ext cx="32685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 idx="2" hasCustomPrompt="1"/>
          </p:nvPr>
        </p:nvSpPr>
        <p:spPr>
          <a:xfrm>
            <a:off x="1640100" y="1347913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948000" y="2519950"/>
            <a:ext cx="3224400" cy="12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948000" y="1218000"/>
            <a:ext cx="2755800" cy="12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SECTION_TITLE_AND_DESCRIPTION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6013614" y="838400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subTitle" idx="1"/>
          </p:nvPr>
        </p:nvSpPr>
        <p:spPr>
          <a:xfrm>
            <a:off x="6013614" y="1199352"/>
            <a:ext cx="233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title" idx="2"/>
          </p:nvPr>
        </p:nvSpPr>
        <p:spPr>
          <a:xfrm>
            <a:off x="6013603" y="2104924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subTitle" idx="3"/>
          </p:nvPr>
        </p:nvSpPr>
        <p:spPr>
          <a:xfrm>
            <a:off x="6013601" y="2465876"/>
            <a:ext cx="233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title" idx="4"/>
          </p:nvPr>
        </p:nvSpPr>
        <p:spPr>
          <a:xfrm>
            <a:off x="6013618" y="3371448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subTitle" idx="5"/>
          </p:nvPr>
        </p:nvSpPr>
        <p:spPr>
          <a:xfrm>
            <a:off x="6013615" y="3732400"/>
            <a:ext cx="233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title" idx="6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SECTION_TITLE_AND_DESCRIPTION_1_1_4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3628589" y="2942625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ubTitle" idx="1"/>
          </p:nvPr>
        </p:nvSpPr>
        <p:spPr>
          <a:xfrm>
            <a:off x="3628600" y="3303578"/>
            <a:ext cx="2333100" cy="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title" idx="2"/>
          </p:nvPr>
        </p:nvSpPr>
        <p:spPr>
          <a:xfrm>
            <a:off x="1295503" y="2130949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subTitle" idx="3"/>
          </p:nvPr>
        </p:nvSpPr>
        <p:spPr>
          <a:xfrm>
            <a:off x="1295511" y="2491901"/>
            <a:ext cx="2333100" cy="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title" idx="4"/>
          </p:nvPr>
        </p:nvSpPr>
        <p:spPr>
          <a:xfrm>
            <a:off x="5964918" y="2130948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subTitle" idx="5"/>
          </p:nvPr>
        </p:nvSpPr>
        <p:spPr>
          <a:xfrm>
            <a:off x="5964925" y="2491900"/>
            <a:ext cx="2333100" cy="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title" idx="6"/>
          </p:nvPr>
        </p:nvSpPr>
        <p:spPr>
          <a:xfrm>
            <a:off x="2569750" y="711175"/>
            <a:ext cx="400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6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>
            <a:spLocks noGrp="1"/>
          </p:cNvSpPr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1600" b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subTitle" idx="1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4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SECTION_TITLE_AND_DESCRIPTION_1_1_1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>
            <a:spLocks noGrp="1"/>
          </p:cNvSpPr>
          <p:nvPr>
            <p:ph type="title"/>
          </p:nvPr>
        </p:nvSpPr>
        <p:spPr>
          <a:xfrm>
            <a:off x="5230400" y="3321638"/>
            <a:ext cx="27975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ubTitle" idx="1"/>
          </p:nvPr>
        </p:nvSpPr>
        <p:spPr>
          <a:xfrm>
            <a:off x="4909400" y="1218188"/>
            <a:ext cx="3439500" cy="20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SECTION_TITLE_AND_DESCRIPTION_1_1_2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3"/>
          <p:cNvSpPr txBox="1">
            <a:spLocks noGrp="1"/>
          </p:cNvSpPr>
          <p:nvPr>
            <p:ph type="title"/>
          </p:nvPr>
        </p:nvSpPr>
        <p:spPr>
          <a:xfrm>
            <a:off x="6166050" y="118321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8" name="Google Shape;218;p33"/>
          <p:cNvSpPr txBox="1">
            <a:spLocks noGrp="1"/>
          </p:cNvSpPr>
          <p:nvPr>
            <p:ph type="subTitle" idx="1"/>
          </p:nvPr>
        </p:nvSpPr>
        <p:spPr>
          <a:xfrm>
            <a:off x="6166050" y="1620375"/>
            <a:ext cx="21402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33"/>
          <p:cNvSpPr txBox="1">
            <a:spLocks noGrp="1"/>
          </p:cNvSpPr>
          <p:nvPr>
            <p:ph type="title" idx="2"/>
          </p:nvPr>
        </p:nvSpPr>
        <p:spPr>
          <a:xfrm>
            <a:off x="6166040" y="2678335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subTitle" idx="3"/>
          </p:nvPr>
        </p:nvSpPr>
        <p:spPr>
          <a:xfrm>
            <a:off x="6166050" y="3115508"/>
            <a:ext cx="21402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title" idx="4"/>
          </p:nvPr>
        </p:nvSpPr>
        <p:spPr>
          <a:xfrm>
            <a:off x="1002325" y="711175"/>
            <a:ext cx="26667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5" r:id="rId5"/>
    <p:sldLayoutId id="2147483657" r:id="rId6"/>
    <p:sldLayoutId id="2147483658" r:id="rId7"/>
    <p:sldLayoutId id="2147483659" r:id="rId8"/>
    <p:sldLayoutId id="2147483663" r:id="rId9"/>
    <p:sldLayoutId id="2147483665" r:id="rId10"/>
    <p:sldLayoutId id="2147483666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9" r:id="rId17"/>
    <p:sldLayoutId id="2147483687" r:id="rId18"/>
    <p:sldLayoutId id="2147483688" r:id="rId19"/>
    <p:sldLayoutId id="2147483689" r:id="rId20"/>
    <p:sldLayoutId id="2147483690" r:id="rId21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0"/>
          <p:cNvSpPr txBox="1">
            <a:spLocks noGrp="1"/>
          </p:cNvSpPr>
          <p:nvPr>
            <p:ph type="ctrTitle"/>
          </p:nvPr>
        </p:nvSpPr>
        <p:spPr>
          <a:xfrm>
            <a:off x="1672763" y="1282102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DISASTER</a:t>
            </a:r>
            <a:br>
              <a:rPr lang="en" dirty="0" smtClean="0"/>
            </a:br>
            <a:r>
              <a:rPr lang="en" dirty="0" smtClean="0"/>
              <a:t>MANAGEMENT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15" name="Google Shape;315;p50"/>
          <p:cNvSpPr txBox="1">
            <a:spLocks noGrp="1"/>
          </p:cNvSpPr>
          <p:nvPr>
            <p:ph type="subTitle" idx="1"/>
          </p:nvPr>
        </p:nvSpPr>
        <p:spPr>
          <a:xfrm>
            <a:off x="1672763" y="3478121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By</a:t>
            </a:r>
            <a:br>
              <a:rPr lang="en" dirty="0" smtClean="0"/>
            </a:br>
            <a:r>
              <a:rPr lang="en" dirty="0" smtClean="0"/>
              <a:t>Tharun</a:t>
            </a:r>
            <a:br>
              <a:rPr lang="en" dirty="0" smtClean="0"/>
            </a:br>
            <a:r>
              <a:rPr lang="en" dirty="0" smtClean="0"/>
              <a:t>Vishal</a:t>
            </a:r>
            <a:br>
              <a:rPr lang="en" dirty="0" smtClean="0"/>
            </a:br>
            <a:r>
              <a:rPr lang="en" dirty="0" smtClean="0"/>
              <a:t>Praveen</a:t>
            </a:r>
            <a:br>
              <a:rPr lang="en" dirty="0" smtClean="0"/>
            </a:br>
            <a:r>
              <a:rPr lang="en" dirty="0" smtClean="0"/>
              <a:t>Rayhaan</a:t>
            </a:r>
            <a:br>
              <a:rPr lang="en" dirty="0" smtClean="0"/>
            </a:br>
            <a:r>
              <a:rPr lang="en" dirty="0" smtClean="0"/>
              <a:t>Agilan</a:t>
            </a:r>
            <a:endParaRPr b="0" dirty="0"/>
          </a:p>
        </p:txBody>
      </p:sp>
      <p:sp>
        <p:nvSpPr>
          <p:cNvPr id="316" name="Google Shape;316;p50"/>
          <p:cNvSpPr/>
          <p:nvPr/>
        </p:nvSpPr>
        <p:spPr>
          <a:xfrm>
            <a:off x="2640700" y="2929265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7" name="Google Shape;317;p50"/>
          <p:cNvSpPr/>
          <p:nvPr/>
        </p:nvSpPr>
        <p:spPr>
          <a:xfrm>
            <a:off x="5822625" y="2886561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8" name="Google Shape;318;p50"/>
          <p:cNvSpPr/>
          <p:nvPr/>
        </p:nvSpPr>
        <p:spPr>
          <a:xfrm>
            <a:off x="7256138" y="3901142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319" name="Google Shape;319;p50"/>
          <p:cNvPicPr preferRelativeResize="0"/>
          <p:nvPr/>
        </p:nvPicPr>
        <p:blipFill rotWithShape="1">
          <a:blip r:embed="rId3">
            <a:alphaModFix/>
          </a:blip>
          <a:srcRect t="16970" r="8892" b="21025"/>
          <a:stretch/>
        </p:blipFill>
        <p:spPr>
          <a:xfrm>
            <a:off x="6539175" y="3603223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0"/>
          <p:cNvPicPr preferRelativeResize="0"/>
          <p:nvPr/>
        </p:nvPicPr>
        <p:blipFill rotWithShape="1">
          <a:blip r:embed="rId4">
            <a:alphaModFix/>
          </a:blip>
          <a:srcRect t="16734" r="8892" b="18300"/>
          <a:stretch/>
        </p:blipFill>
        <p:spPr>
          <a:xfrm>
            <a:off x="6539175" y="3055100"/>
            <a:ext cx="2036850" cy="846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2"/>
          <p:cNvSpPr txBox="1">
            <a:spLocks noGrp="1"/>
          </p:cNvSpPr>
          <p:nvPr>
            <p:ph type="title" idx="8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Contents!</a:t>
            </a:r>
            <a:endParaRPr dirty="0"/>
          </a:p>
        </p:txBody>
      </p:sp>
      <p:sp>
        <p:nvSpPr>
          <p:cNvPr id="333" name="Google Shape;333;p52"/>
          <p:cNvSpPr/>
          <p:nvPr/>
        </p:nvSpPr>
        <p:spPr>
          <a:xfrm>
            <a:off x="7639575" y="711175"/>
            <a:ext cx="674863" cy="488424"/>
          </a:xfrm>
          <a:custGeom>
            <a:avLst/>
            <a:gdLst/>
            <a:ahLst/>
            <a:cxnLst/>
            <a:rect l="l" t="t" r="r" b="b"/>
            <a:pathLst>
              <a:path w="35347" h="25582" extrusionOk="0">
                <a:moveTo>
                  <a:pt x="32086" y="1331"/>
                </a:moveTo>
                <a:cubicBezTo>
                  <a:pt x="32060" y="1725"/>
                  <a:pt x="32014" y="2116"/>
                  <a:pt x="31884" y="2511"/>
                </a:cubicBezTo>
                <a:cubicBezTo>
                  <a:pt x="31710" y="3037"/>
                  <a:pt x="31422" y="3448"/>
                  <a:pt x="31140" y="3873"/>
                </a:cubicBezTo>
                <a:lnTo>
                  <a:pt x="31140" y="3875"/>
                </a:lnTo>
                <a:cubicBezTo>
                  <a:pt x="31045" y="3802"/>
                  <a:pt x="30957" y="3717"/>
                  <a:pt x="30879" y="3626"/>
                </a:cubicBezTo>
                <a:cubicBezTo>
                  <a:pt x="30960" y="3537"/>
                  <a:pt x="31004" y="3420"/>
                  <a:pt x="31004" y="3300"/>
                </a:cubicBezTo>
                <a:cubicBezTo>
                  <a:pt x="31012" y="2456"/>
                  <a:pt x="31170" y="1364"/>
                  <a:pt x="32086" y="1331"/>
                </a:cubicBezTo>
                <a:close/>
                <a:moveTo>
                  <a:pt x="33448" y="2151"/>
                </a:moveTo>
                <a:lnTo>
                  <a:pt x="33448" y="2151"/>
                </a:lnTo>
                <a:cubicBezTo>
                  <a:pt x="33674" y="2664"/>
                  <a:pt x="33586" y="3318"/>
                  <a:pt x="33167" y="3795"/>
                </a:cubicBezTo>
                <a:cubicBezTo>
                  <a:pt x="33046" y="3933"/>
                  <a:pt x="32896" y="4044"/>
                  <a:pt x="32729" y="4118"/>
                </a:cubicBezTo>
                <a:cubicBezTo>
                  <a:pt x="33098" y="3528"/>
                  <a:pt x="33326" y="2819"/>
                  <a:pt x="33448" y="2151"/>
                </a:cubicBezTo>
                <a:close/>
                <a:moveTo>
                  <a:pt x="32524" y="1387"/>
                </a:moveTo>
                <a:cubicBezTo>
                  <a:pt x="32540" y="1390"/>
                  <a:pt x="32555" y="1392"/>
                  <a:pt x="32571" y="1397"/>
                </a:cubicBezTo>
                <a:cubicBezTo>
                  <a:pt x="32884" y="1486"/>
                  <a:pt x="33123" y="1661"/>
                  <a:pt x="33289" y="1878"/>
                </a:cubicBezTo>
                <a:cubicBezTo>
                  <a:pt x="33081" y="2445"/>
                  <a:pt x="32804" y="2943"/>
                  <a:pt x="32503" y="3432"/>
                </a:cubicBezTo>
                <a:cubicBezTo>
                  <a:pt x="32416" y="3432"/>
                  <a:pt x="32336" y="3480"/>
                  <a:pt x="32295" y="3557"/>
                </a:cubicBezTo>
                <a:cubicBezTo>
                  <a:pt x="32169" y="3777"/>
                  <a:pt x="32049" y="4000"/>
                  <a:pt x="31925" y="4221"/>
                </a:cubicBezTo>
                <a:cubicBezTo>
                  <a:pt x="31817" y="4204"/>
                  <a:pt x="31712" y="4175"/>
                  <a:pt x="31611" y="4138"/>
                </a:cubicBezTo>
                <a:cubicBezTo>
                  <a:pt x="32171" y="3413"/>
                  <a:pt x="32513" y="2340"/>
                  <a:pt x="32524" y="1387"/>
                </a:cubicBezTo>
                <a:close/>
                <a:moveTo>
                  <a:pt x="9407" y="5159"/>
                </a:moveTo>
                <a:cubicBezTo>
                  <a:pt x="10187" y="6580"/>
                  <a:pt x="10603" y="7882"/>
                  <a:pt x="10645" y="9398"/>
                </a:cubicBezTo>
                <a:cubicBezTo>
                  <a:pt x="10279" y="9775"/>
                  <a:pt x="9939" y="10175"/>
                  <a:pt x="9627" y="10596"/>
                </a:cubicBezTo>
                <a:lnTo>
                  <a:pt x="9626" y="10596"/>
                </a:lnTo>
                <a:cubicBezTo>
                  <a:pt x="9570" y="10548"/>
                  <a:pt x="9511" y="10506"/>
                  <a:pt x="9457" y="10455"/>
                </a:cubicBezTo>
                <a:cubicBezTo>
                  <a:pt x="8958" y="9988"/>
                  <a:pt x="8631" y="9478"/>
                  <a:pt x="8445" y="8950"/>
                </a:cubicBezTo>
                <a:cubicBezTo>
                  <a:pt x="8239" y="7563"/>
                  <a:pt x="8522" y="6110"/>
                  <a:pt x="9407" y="5159"/>
                </a:cubicBezTo>
                <a:close/>
                <a:moveTo>
                  <a:pt x="14031" y="4662"/>
                </a:moveTo>
                <a:lnTo>
                  <a:pt x="14031" y="4662"/>
                </a:lnTo>
                <a:cubicBezTo>
                  <a:pt x="15409" y="5488"/>
                  <a:pt x="16195" y="7133"/>
                  <a:pt x="15661" y="8877"/>
                </a:cubicBezTo>
                <a:lnTo>
                  <a:pt x="15659" y="8877"/>
                </a:lnTo>
                <a:cubicBezTo>
                  <a:pt x="15430" y="9624"/>
                  <a:pt x="15018" y="10217"/>
                  <a:pt x="14503" y="10657"/>
                </a:cubicBezTo>
                <a:cubicBezTo>
                  <a:pt x="15162" y="8733"/>
                  <a:pt x="15142" y="6226"/>
                  <a:pt x="14031" y="4662"/>
                </a:cubicBezTo>
                <a:close/>
                <a:moveTo>
                  <a:pt x="12255" y="4111"/>
                </a:moveTo>
                <a:lnTo>
                  <a:pt x="12255" y="4111"/>
                </a:lnTo>
                <a:cubicBezTo>
                  <a:pt x="12734" y="4141"/>
                  <a:pt x="13204" y="4257"/>
                  <a:pt x="13641" y="4456"/>
                </a:cubicBezTo>
                <a:cubicBezTo>
                  <a:pt x="13946" y="5706"/>
                  <a:pt x="14445" y="6784"/>
                  <a:pt x="14438" y="8128"/>
                </a:cubicBezTo>
                <a:cubicBezTo>
                  <a:pt x="14433" y="9221"/>
                  <a:pt x="14153" y="10170"/>
                  <a:pt x="13778" y="11136"/>
                </a:cubicBezTo>
                <a:lnTo>
                  <a:pt x="13777" y="11136"/>
                </a:lnTo>
                <a:cubicBezTo>
                  <a:pt x="13579" y="11237"/>
                  <a:pt x="13371" y="11320"/>
                  <a:pt x="13158" y="11383"/>
                </a:cubicBezTo>
                <a:cubicBezTo>
                  <a:pt x="13508" y="10596"/>
                  <a:pt x="13480" y="9389"/>
                  <a:pt x="13480" y="8738"/>
                </a:cubicBezTo>
                <a:cubicBezTo>
                  <a:pt x="13481" y="7105"/>
                  <a:pt x="13101" y="5512"/>
                  <a:pt x="12255" y="4111"/>
                </a:cubicBezTo>
                <a:close/>
                <a:moveTo>
                  <a:pt x="10574" y="4370"/>
                </a:moveTo>
                <a:cubicBezTo>
                  <a:pt x="11032" y="5394"/>
                  <a:pt x="11434" y="6425"/>
                  <a:pt x="11654" y="7535"/>
                </a:cubicBezTo>
                <a:cubicBezTo>
                  <a:pt x="11731" y="7917"/>
                  <a:pt x="12221" y="10964"/>
                  <a:pt x="11674" y="11503"/>
                </a:cubicBezTo>
                <a:cubicBezTo>
                  <a:pt x="11256" y="11451"/>
                  <a:pt x="10850" y="11331"/>
                  <a:pt x="10471" y="11147"/>
                </a:cubicBezTo>
                <a:cubicBezTo>
                  <a:pt x="10513" y="11076"/>
                  <a:pt x="10551" y="11003"/>
                  <a:pt x="10593" y="10933"/>
                </a:cubicBezTo>
                <a:cubicBezTo>
                  <a:pt x="10613" y="10979"/>
                  <a:pt x="10666" y="11005"/>
                  <a:pt x="10718" y="11005"/>
                </a:cubicBezTo>
                <a:cubicBezTo>
                  <a:pt x="10776" y="11005"/>
                  <a:pt x="10833" y="10974"/>
                  <a:pt x="10849" y="10909"/>
                </a:cubicBezTo>
                <a:cubicBezTo>
                  <a:pt x="10901" y="10692"/>
                  <a:pt x="10939" y="10473"/>
                  <a:pt x="10966" y="10253"/>
                </a:cubicBezTo>
                <a:cubicBezTo>
                  <a:pt x="11086" y="10020"/>
                  <a:pt x="11201" y="9789"/>
                  <a:pt x="11304" y="9554"/>
                </a:cubicBezTo>
                <a:cubicBezTo>
                  <a:pt x="11399" y="9337"/>
                  <a:pt x="11239" y="9113"/>
                  <a:pt x="11045" y="9113"/>
                </a:cubicBezTo>
                <a:cubicBezTo>
                  <a:pt x="11035" y="9113"/>
                  <a:pt x="11025" y="9113"/>
                  <a:pt x="11016" y="9115"/>
                </a:cubicBezTo>
                <a:cubicBezTo>
                  <a:pt x="10959" y="7642"/>
                  <a:pt x="10449" y="6136"/>
                  <a:pt x="9532" y="5039"/>
                </a:cubicBezTo>
                <a:cubicBezTo>
                  <a:pt x="9833" y="4751"/>
                  <a:pt x="10187" y="4523"/>
                  <a:pt x="10574" y="4370"/>
                </a:cubicBezTo>
                <a:close/>
                <a:moveTo>
                  <a:pt x="12017" y="4105"/>
                </a:moveTo>
                <a:cubicBezTo>
                  <a:pt x="12017" y="4115"/>
                  <a:pt x="12020" y="4125"/>
                  <a:pt x="12023" y="4134"/>
                </a:cubicBezTo>
                <a:cubicBezTo>
                  <a:pt x="12459" y="5230"/>
                  <a:pt x="12828" y="6325"/>
                  <a:pt x="12963" y="7502"/>
                </a:cubicBezTo>
                <a:cubicBezTo>
                  <a:pt x="13008" y="7897"/>
                  <a:pt x="13034" y="10935"/>
                  <a:pt x="12588" y="11499"/>
                </a:cubicBezTo>
                <a:lnTo>
                  <a:pt x="12586" y="11499"/>
                </a:lnTo>
                <a:cubicBezTo>
                  <a:pt x="12468" y="11513"/>
                  <a:pt x="12349" y="11524"/>
                  <a:pt x="12230" y="11527"/>
                </a:cubicBezTo>
                <a:cubicBezTo>
                  <a:pt x="12489" y="10895"/>
                  <a:pt x="12334" y="9818"/>
                  <a:pt x="12313" y="9394"/>
                </a:cubicBezTo>
                <a:cubicBezTo>
                  <a:pt x="12224" y="7606"/>
                  <a:pt x="11756" y="5824"/>
                  <a:pt x="10864" y="4269"/>
                </a:cubicBezTo>
                <a:cubicBezTo>
                  <a:pt x="11115" y="4193"/>
                  <a:pt x="11375" y="4142"/>
                  <a:pt x="11637" y="4117"/>
                </a:cubicBezTo>
                <a:cubicBezTo>
                  <a:pt x="11766" y="4105"/>
                  <a:pt x="11891" y="4105"/>
                  <a:pt x="12017" y="4105"/>
                </a:cubicBezTo>
                <a:close/>
                <a:moveTo>
                  <a:pt x="25741" y="16319"/>
                </a:moveTo>
                <a:cubicBezTo>
                  <a:pt x="26033" y="16319"/>
                  <a:pt x="26325" y="16353"/>
                  <a:pt x="26608" y="16425"/>
                </a:cubicBezTo>
                <a:cubicBezTo>
                  <a:pt x="26757" y="16463"/>
                  <a:pt x="26903" y="16513"/>
                  <a:pt x="27044" y="16574"/>
                </a:cubicBezTo>
                <a:cubicBezTo>
                  <a:pt x="28124" y="17916"/>
                  <a:pt x="26413" y="20133"/>
                  <a:pt x="25036" y="20799"/>
                </a:cubicBezTo>
                <a:cubicBezTo>
                  <a:pt x="24616" y="21002"/>
                  <a:pt x="24156" y="21111"/>
                  <a:pt x="23701" y="21111"/>
                </a:cubicBezTo>
                <a:cubicBezTo>
                  <a:pt x="23171" y="21111"/>
                  <a:pt x="22648" y="20963"/>
                  <a:pt x="22200" y="20645"/>
                </a:cubicBezTo>
                <a:cubicBezTo>
                  <a:pt x="21851" y="20398"/>
                  <a:pt x="21618" y="20077"/>
                  <a:pt x="21492" y="19731"/>
                </a:cubicBezTo>
                <a:cubicBezTo>
                  <a:pt x="21476" y="19396"/>
                  <a:pt x="21503" y="19061"/>
                  <a:pt x="21572" y="18733"/>
                </a:cubicBezTo>
                <a:cubicBezTo>
                  <a:pt x="21617" y="18728"/>
                  <a:pt x="21662" y="18715"/>
                  <a:pt x="21702" y="18694"/>
                </a:cubicBezTo>
                <a:cubicBezTo>
                  <a:pt x="22164" y="18440"/>
                  <a:pt x="22446" y="18033"/>
                  <a:pt x="22768" y="17649"/>
                </a:cubicBezTo>
                <a:cubicBezTo>
                  <a:pt x="23416" y="18221"/>
                  <a:pt x="24064" y="18791"/>
                  <a:pt x="24704" y="19359"/>
                </a:cubicBezTo>
                <a:cubicBezTo>
                  <a:pt x="24857" y="19496"/>
                  <a:pt x="25027" y="19554"/>
                  <a:pt x="25190" y="19554"/>
                </a:cubicBezTo>
                <a:cubicBezTo>
                  <a:pt x="25767" y="19554"/>
                  <a:pt x="26268" y="18836"/>
                  <a:pt x="25734" y="18328"/>
                </a:cubicBezTo>
                <a:cubicBezTo>
                  <a:pt x="25166" y="17789"/>
                  <a:pt x="24597" y="17246"/>
                  <a:pt x="24027" y="16699"/>
                </a:cubicBezTo>
                <a:cubicBezTo>
                  <a:pt x="24563" y="16456"/>
                  <a:pt x="25153" y="16319"/>
                  <a:pt x="25741" y="16319"/>
                </a:cubicBezTo>
                <a:close/>
                <a:moveTo>
                  <a:pt x="27895" y="17098"/>
                </a:moveTo>
                <a:cubicBezTo>
                  <a:pt x="28227" y="17383"/>
                  <a:pt x="28508" y="17724"/>
                  <a:pt x="28723" y="18106"/>
                </a:cubicBezTo>
                <a:cubicBezTo>
                  <a:pt x="28458" y="19552"/>
                  <a:pt x="27924" y="20816"/>
                  <a:pt x="26655" y="21718"/>
                </a:cubicBezTo>
                <a:cubicBezTo>
                  <a:pt x="25884" y="22266"/>
                  <a:pt x="25025" y="22582"/>
                  <a:pt x="24076" y="22639"/>
                </a:cubicBezTo>
                <a:cubicBezTo>
                  <a:pt x="24017" y="22642"/>
                  <a:pt x="23950" y="22644"/>
                  <a:pt x="23875" y="22644"/>
                </a:cubicBezTo>
                <a:cubicBezTo>
                  <a:pt x="23571" y="22644"/>
                  <a:pt x="23149" y="22613"/>
                  <a:pt x="22716" y="22526"/>
                </a:cubicBezTo>
                <a:cubicBezTo>
                  <a:pt x="22231" y="22010"/>
                  <a:pt x="21886" y="21431"/>
                  <a:pt x="21690" y="20830"/>
                </a:cubicBezTo>
                <a:lnTo>
                  <a:pt x="21690" y="20830"/>
                </a:lnTo>
                <a:cubicBezTo>
                  <a:pt x="22236" y="21348"/>
                  <a:pt x="23021" y="21617"/>
                  <a:pt x="23774" y="21617"/>
                </a:cubicBezTo>
                <a:cubicBezTo>
                  <a:pt x="23888" y="21617"/>
                  <a:pt x="24001" y="21610"/>
                  <a:pt x="24112" y="21598"/>
                </a:cubicBezTo>
                <a:cubicBezTo>
                  <a:pt x="25882" y="21400"/>
                  <a:pt x="28208" y="18898"/>
                  <a:pt x="27895" y="17098"/>
                </a:cubicBezTo>
                <a:close/>
                <a:moveTo>
                  <a:pt x="4132" y="21347"/>
                </a:moveTo>
                <a:lnTo>
                  <a:pt x="4132" y="21347"/>
                </a:lnTo>
                <a:cubicBezTo>
                  <a:pt x="4450" y="21713"/>
                  <a:pt x="4661" y="22218"/>
                  <a:pt x="4648" y="22688"/>
                </a:cubicBezTo>
                <a:cubicBezTo>
                  <a:pt x="4476" y="22239"/>
                  <a:pt x="4293" y="21798"/>
                  <a:pt x="4132" y="21347"/>
                </a:cubicBezTo>
                <a:close/>
                <a:moveTo>
                  <a:pt x="2094" y="22062"/>
                </a:moveTo>
                <a:cubicBezTo>
                  <a:pt x="2166" y="22580"/>
                  <a:pt x="2241" y="23104"/>
                  <a:pt x="2354" y="23612"/>
                </a:cubicBezTo>
                <a:cubicBezTo>
                  <a:pt x="2209" y="23502"/>
                  <a:pt x="2084" y="23367"/>
                  <a:pt x="1985" y="23213"/>
                </a:cubicBezTo>
                <a:cubicBezTo>
                  <a:pt x="1858" y="23010"/>
                  <a:pt x="1761" y="22723"/>
                  <a:pt x="1712" y="22412"/>
                </a:cubicBezTo>
                <a:cubicBezTo>
                  <a:pt x="1816" y="22378"/>
                  <a:pt x="1908" y="22323"/>
                  <a:pt x="1972" y="22248"/>
                </a:cubicBezTo>
                <a:cubicBezTo>
                  <a:pt x="2019" y="22190"/>
                  <a:pt x="2059" y="22128"/>
                  <a:pt x="2094" y="22062"/>
                </a:cubicBezTo>
                <a:close/>
                <a:moveTo>
                  <a:pt x="29081" y="18929"/>
                </a:moveTo>
                <a:lnTo>
                  <a:pt x="29081" y="18930"/>
                </a:lnTo>
                <a:cubicBezTo>
                  <a:pt x="29363" y="19840"/>
                  <a:pt x="29336" y="20848"/>
                  <a:pt x="28921" y="21706"/>
                </a:cubicBezTo>
                <a:cubicBezTo>
                  <a:pt x="28288" y="23017"/>
                  <a:pt x="26888" y="23727"/>
                  <a:pt x="25492" y="23727"/>
                </a:cubicBezTo>
                <a:cubicBezTo>
                  <a:pt x="24668" y="23727"/>
                  <a:pt x="23846" y="23480"/>
                  <a:pt x="23183" y="22963"/>
                </a:cubicBezTo>
                <a:lnTo>
                  <a:pt x="23183" y="22963"/>
                </a:lnTo>
                <a:cubicBezTo>
                  <a:pt x="23552" y="23022"/>
                  <a:pt x="23905" y="23051"/>
                  <a:pt x="24198" y="23051"/>
                </a:cubicBezTo>
                <a:cubicBezTo>
                  <a:pt x="24347" y="23051"/>
                  <a:pt x="24480" y="23044"/>
                  <a:pt x="24592" y="23029"/>
                </a:cubicBezTo>
                <a:cubicBezTo>
                  <a:pt x="26773" y="22734"/>
                  <a:pt x="28616" y="21040"/>
                  <a:pt x="29081" y="18929"/>
                </a:cubicBezTo>
                <a:close/>
                <a:moveTo>
                  <a:pt x="3135" y="20825"/>
                </a:moveTo>
                <a:cubicBezTo>
                  <a:pt x="3311" y="20825"/>
                  <a:pt x="3491" y="20875"/>
                  <a:pt x="3656" y="20961"/>
                </a:cubicBezTo>
                <a:cubicBezTo>
                  <a:pt x="3657" y="20976"/>
                  <a:pt x="3661" y="20993"/>
                  <a:pt x="3663" y="21009"/>
                </a:cubicBezTo>
                <a:cubicBezTo>
                  <a:pt x="3656" y="21030"/>
                  <a:pt x="3647" y="21051"/>
                  <a:pt x="3641" y="21072"/>
                </a:cubicBezTo>
                <a:cubicBezTo>
                  <a:pt x="3621" y="21137"/>
                  <a:pt x="3651" y="21196"/>
                  <a:pt x="3697" y="21233"/>
                </a:cubicBezTo>
                <a:cubicBezTo>
                  <a:pt x="3821" y="21992"/>
                  <a:pt x="4033" y="22752"/>
                  <a:pt x="4420" y="23383"/>
                </a:cubicBezTo>
                <a:cubicBezTo>
                  <a:pt x="4377" y="23441"/>
                  <a:pt x="4329" y="23494"/>
                  <a:pt x="4277" y="23544"/>
                </a:cubicBezTo>
                <a:lnTo>
                  <a:pt x="4276" y="23544"/>
                </a:lnTo>
                <a:cubicBezTo>
                  <a:pt x="4147" y="23661"/>
                  <a:pt x="3999" y="23755"/>
                  <a:pt x="3838" y="23822"/>
                </a:cubicBezTo>
                <a:cubicBezTo>
                  <a:pt x="3681" y="23377"/>
                  <a:pt x="3463" y="22951"/>
                  <a:pt x="3325" y="22494"/>
                </a:cubicBezTo>
                <a:cubicBezTo>
                  <a:pt x="3162" y="21951"/>
                  <a:pt x="3080" y="21394"/>
                  <a:pt x="2974" y="20839"/>
                </a:cubicBezTo>
                <a:cubicBezTo>
                  <a:pt x="3027" y="20830"/>
                  <a:pt x="3081" y="20825"/>
                  <a:pt x="3135" y="20825"/>
                </a:cubicBezTo>
                <a:close/>
                <a:moveTo>
                  <a:pt x="2618" y="21003"/>
                </a:moveTo>
                <a:lnTo>
                  <a:pt x="2618" y="21003"/>
                </a:lnTo>
                <a:cubicBezTo>
                  <a:pt x="2610" y="21938"/>
                  <a:pt x="2832" y="23104"/>
                  <a:pt x="3325" y="23932"/>
                </a:cubicBezTo>
                <a:cubicBezTo>
                  <a:pt x="3310" y="23933"/>
                  <a:pt x="3294" y="23933"/>
                  <a:pt x="3278" y="23933"/>
                </a:cubicBezTo>
                <a:cubicBezTo>
                  <a:pt x="3134" y="23933"/>
                  <a:pt x="2991" y="23913"/>
                  <a:pt x="2853" y="23872"/>
                </a:cubicBezTo>
                <a:cubicBezTo>
                  <a:pt x="2744" y="23067"/>
                  <a:pt x="2516" y="22253"/>
                  <a:pt x="2314" y="21464"/>
                </a:cubicBezTo>
                <a:cubicBezTo>
                  <a:pt x="2350" y="21361"/>
                  <a:pt x="2400" y="21260"/>
                  <a:pt x="2462" y="21169"/>
                </a:cubicBezTo>
                <a:cubicBezTo>
                  <a:pt x="2506" y="21107"/>
                  <a:pt x="2558" y="21051"/>
                  <a:pt x="2618" y="21003"/>
                </a:cubicBezTo>
                <a:close/>
                <a:moveTo>
                  <a:pt x="32126" y="1"/>
                </a:moveTo>
                <a:cubicBezTo>
                  <a:pt x="31323" y="1"/>
                  <a:pt x="30546" y="369"/>
                  <a:pt x="30075" y="1049"/>
                </a:cubicBezTo>
                <a:cubicBezTo>
                  <a:pt x="29894" y="1313"/>
                  <a:pt x="29762" y="1606"/>
                  <a:pt x="29685" y="1915"/>
                </a:cubicBezTo>
                <a:cubicBezTo>
                  <a:pt x="29466" y="2456"/>
                  <a:pt x="29447" y="3070"/>
                  <a:pt x="29668" y="3630"/>
                </a:cubicBezTo>
                <a:cubicBezTo>
                  <a:pt x="29978" y="4415"/>
                  <a:pt x="30637" y="4960"/>
                  <a:pt x="31382" y="5195"/>
                </a:cubicBezTo>
                <a:cubicBezTo>
                  <a:pt x="30546" y="6732"/>
                  <a:pt x="29755" y="8294"/>
                  <a:pt x="29009" y="9878"/>
                </a:cubicBezTo>
                <a:cubicBezTo>
                  <a:pt x="28225" y="11546"/>
                  <a:pt x="27286" y="13351"/>
                  <a:pt x="26770" y="15158"/>
                </a:cubicBezTo>
                <a:cubicBezTo>
                  <a:pt x="26431" y="15086"/>
                  <a:pt x="26084" y="15051"/>
                  <a:pt x="25737" y="15051"/>
                </a:cubicBezTo>
                <a:cubicBezTo>
                  <a:pt x="25060" y="15051"/>
                  <a:pt x="24380" y="15183"/>
                  <a:pt x="23751" y="15430"/>
                </a:cubicBezTo>
                <a:cubicBezTo>
                  <a:pt x="23471" y="15476"/>
                  <a:pt x="23197" y="15553"/>
                  <a:pt x="22935" y="15660"/>
                </a:cubicBezTo>
                <a:cubicBezTo>
                  <a:pt x="20905" y="13737"/>
                  <a:pt x="18830" y="11837"/>
                  <a:pt x="16633" y="10158"/>
                </a:cubicBezTo>
                <a:cubicBezTo>
                  <a:pt x="16751" y="9931"/>
                  <a:pt x="16852" y="9696"/>
                  <a:pt x="16936" y="9456"/>
                </a:cubicBezTo>
                <a:cubicBezTo>
                  <a:pt x="18116" y="5988"/>
                  <a:pt x="15474" y="2670"/>
                  <a:pt x="12008" y="2670"/>
                </a:cubicBezTo>
                <a:cubicBezTo>
                  <a:pt x="11713" y="2670"/>
                  <a:pt x="11413" y="2694"/>
                  <a:pt x="11109" y="2743"/>
                </a:cubicBezTo>
                <a:cubicBezTo>
                  <a:pt x="7757" y="3292"/>
                  <a:pt x="5808" y="7543"/>
                  <a:pt x="7713" y="10306"/>
                </a:cubicBezTo>
                <a:cubicBezTo>
                  <a:pt x="7866" y="10571"/>
                  <a:pt x="8043" y="10822"/>
                  <a:pt x="8242" y="11054"/>
                </a:cubicBezTo>
                <a:cubicBezTo>
                  <a:pt x="8437" y="11277"/>
                  <a:pt x="8650" y="11485"/>
                  <a:pt x="8877" y="11673"/>
                </a:cubicBezTo>
                <a:cubicBezTo>
                  <a:pt x="8169" y="12760"/>
                  <a:pt x="7533" y="13914"/>
                  <a:pt x="6898" y="14949"/>
                </a:cubicBezTo>
                <a:cubicBezTo>
                  <a:pt x="6032" y="16364"/>
                  <a:pt x="5044" y="17822"/>
                  <a:pt x="4317" y="19357"/>
                </a:cubicBezTo>
                <a:cubicBezTo>
                  <a:pt x="3940" y="19175"/>
                  <a:pt x="3537" y="19084"/>
                  <a:pt x="3136" y="19084"/>
                </a:cubicBezTo>
                <a:cubicBezTo>
                  <a:pt x="2551" y="19084"/>
                  <a:pt x="1971" y="19278"/>
                  <a:pt x="1493" y="19666"/>
                </a:cubicBezTo>
                <a:cubicBezTo>
                  <a:pt x="1421" y="19724"/>
                  <a:pt x="1353" y="19788"/>
                  <a:pt x="1288" y="19853"/>
                </a:cubicBezTo>
                <a:cubicBezTo>
                  <a:pt x="1005" y="19986"/>
                  <a:pt x="760" y="20189"/>
                  <a:pt x="578" y="20442"/>
                </a:cubicBezTo>
                <a:cubicBezTo>
                  <a:pt x="3" y="21266"/>
                  <a:pt x="0" y="22476"/>
                  <a:pt x="318" y="23394"/>
                </a:cubicBezTo>
                <a:cubicBezTo>
                  <a:pt x="793" y="24766"/>
                  <a:pt x="2029" y="25582"/>
                  <a:pt x="3317" y="25582"/>
                </a:cubicBezTo>
                <a:cubicBezTo>
                  <a:pt x="3993" y="25582"/>
                  <a:pt x="4683" y="25357"/>
                  <a:pt x="5286" y="24870"/>
                </a:cubicBezTo>
                <a:cubicBezTo>
                  <a:pt x="6926" y="23545"/>
                  <a:pt x="6474" y="21038"/>
                  <a:pt x="4975" y="19786"/>
                </a:cubicBezTo>
                <a:cubicBezTo>
                  <a:pt x="5861" y="18451"/>
                  <a:pt x="6601" y="16991"/>
                  <a:pt x="7440" y="15647"/>
                </a:cubicBezTo>
                <a:cubicBezTo>
                  <a:pt x="8141" y="14525"/>
                  <a:pt x="8983" y="13408"/>
                  <a:pt x="9754" y="12263"/>
                </a:cubicBezTo>
                <a:cubicBezTo>
                  <a:pt x="10515" y="12669"/>
                  <a:pt x="11345" y="12866"/>
                  <a:pt x="12168" y="12866"/>
                </a:cubicBezTo>
                <a:cubicBezTo>
                  <a:pt x="13591" y="12866"/>
                  <a:pt x="14989" y="12276"/>
                  <a:pt x="15959" y="11158"/>
                </a:cubicBezTo>
                <a:cubicBezTo>
                  <a:pt x="17703" y="13071"/>
                  <a:pt x="19638" y="14863"/>
                  <a:pt x="21595" y="16608"/>
                </a:cubicBezTo>
                <a:cubicBezTo>
                  <a:pt x="20579" y="17737"/>
                  <a:pt x="20201" y="19474"/>
                  <a:pt x="20622" y="21087"/>
                </a:cubicBezTo>
                <a:cubicBezTo>
                  <a:pt x="20529" y="21504"/>
                  <a:pt x="20700" y="21849"/>
                  <a:pt x="21021" y="22127"/>
                </a:cubicBezTo>
                <a:cubicBezTo>
                  <a:pt x="21030" y="22145"/>
                  <a:pt x="21037" y="22162"/>
                  <a:pt x="21047" y="22181"/>
                </a:cubicBezTo>
                <a:cubicBezTo>
                  <a:pt x="21464" y="22969"/>
                  <a:pt x="22080" y="23635"/>
                  <a:pt x="22834" y="24112"/>
                </a:cubicBezTo>
                <a:cubicBezTo>
                  <a:pt x="23111" y="24337"/>
                  <a:pt x="23434" y="24500"/>
                  <a:pt x="23779" y="24592"/>
                </a:cubicBezTo>
                <a:cubicBezTo>
                  <a:pt x="24377" y="24820"/>
                  <a:pt x="25014" y="24938"/>
                  <a:pt x="25653" y="24938"/>
                </a:cubicBezTo>
                <a:cubicBezTo>
                  <a:pt x="26938" y="24938"/>
                  <a:pt x="28232" y="24460"/>
                  <a:pt x="29242" y="23441"/>
                </a:cubicBezTo>
                <a:cubicBezTo>
                  <a:pt x="31489" y="21171"/>
                  <a:pt x="30665" y="17008"/>
                  <a:pt x="27890" y="15554"/>
                </a:cubicBezTo>
                <a:cubicBezTo>
                  <a:pt x="27687" y="15450"/>
                  <a:pt x="27477" y="15363"/>
                  <a:pt x="27260" y="15293"/>
                </a:cubicBezTo>
                <a:cubicBezTo>
                  <a:pt x="28160" y="13554"/>
                  <a:pt x="28800" y="11634"/>
                  <a:pt x="29632" y="9868"/>
                </a:cubicBezTo>
                <a:cubicBezTo>
                  <a:pt x="30359" y="8325"/>
                  <a:pt x="31134" y="6808"/>
                  <a:pt x="31942" y="5308"/>
                </a:cubicBezTo>
                <a:cubicBezTo>
                  <a:pt x="32029" y="5316"/>
                  <a:pt x="32117" y="5321"/>
                  <a:pt x="32204" y="5321"/>
                </a:cubicBezTo>
                <a:cubicBezTo>
                  <a:pt x="32892" y="5321"/>
                  <a:pt x="33575" y="5053"/>
                  <a:pt x="34071" y="4464"/>
                </a:cubicBezTo>
                <a:cubicBezTo>
                  <a:pt x="35347" y="2948"/>
                  <a:pt x="34697" y="521"/>
                  <a:pt x="32711" y="67"/>
                </a:cubicBezTo>
                <a:cubicBezTo>
                  <a:pt x="32517" y="22"/>
                  <a:pt x="32320" y="1"/>
                  <a:pt x="32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4" name="Google Shape;334;p52"/>
          <p:cNvSpPr/>
          <p:nvPr/>
        </p:nvSpPr>
        <p:spPr>
          <a:xfrm>
            <a:off x="7125750" y="544900"/>
            <a:ext cx="564034" cy="445373"/>
          </a:xfrm>
          <a:custGeom>
            <a:avLst/>
            <a:gdLst/>
            <a:ahLst/>
            <a:cxnLst/>
            <a:rect l="l" t="t" r="r" b="b"/>
            <a:pathLst>
              <a:path w="39020" h="30811" extrusionOk="0">
                <a:moveTo>
                  <a:pt x="30681" y="3474"/>
                </a:moveTo>
                <a:cubicBezTo>
                  <a:pt x="32090" y="5955"/>
                  <a:pt x="33478" y="8448"/>
                  <a:pt x="34883" y="10930"/>
                </a:cubicBezTo>
                <a:cubicBezTo>
                  <a:pt x="35369" y="11788"/>
                  <a:pt x="35855" y="12647"/>
                  <a:pt x="36340" y="13505"/>
                </a:cubicBezTo>
                <a:cubicBezTo>
                  <a:pt x="34784" y="12409"/>
                  <a:pt x="33095" y="11459"/>
                  <a:pt x="31412" y="10597"/>
                </a:cubicBezTo>
                <a:cubicBezTo>
                  <a:pt x="29978" y="9864"/>
                  <a:pt x="28301" y="8917"/>
                  <a:pt x="26670" y="8527"/>
                </a:cubicBezTo>
                <a:cubicBezTo>
                  <a:pt x="27959" y="6807"/>
                  <a:pt x="29296" y="5122"/>
                  <a:pt x="30681" y="3474"/>
                </a:cubicBezTo>
                <a:close/>
                <a:moveTo>
                  <a:pt x="29411" y="1254"/>
                </a:moveTo>
                <a:cubicBezTo>
                  <a:pt x="29708" y="1768"/>
                  <a:pt x="30001" y="2286"/>
                  <a:pt x="30296" y="2802"/>
                </a:cubicBezTo>
                <a:cubicBezTo>
                  <a:pt x="30250" y="2825"/>
                  <a:pt x="30209" y="2858"/>
                  <a:pt x="30176" y="2898"/>
                </a:cubicBezTo>
                <a:cubicBezTo>
                  <a:pt x="28464" y="4922"/>
                  <a:pt x="26824" y="7005"/>
                  <a:pt x="25256" y="9144"/>
                </a:cubicBezTo>
                <a:cubicBezTo>
                  <a:pt x="24435" y="10273"/>
                  <a:pt x="23639" y="11420"/>
                  <a:pt x="22870" y="12586"/>
                </a:cubicBezTo>
                <a:cubicBezTo>
                  <a:pt x="22370" y="13341"/>
                  <a:pt x="21985" y="14172"/>
                  <a:pt x="21048" y="14438"/>
                </a:cubicBezTo>
                <a:cubicBezTo>
                  <a:pt x="20343" y="14637"/>
                  <a:pt x="19521" y="14657"/>
                  <a:pt x="18799" y="14757"/>
                </a:cubicBezTo>
                <a:cubicBezTo>
                  <a:pt x="15724" y="15183"/>
                  <a:pt x="12643" y="15575"/>
                  <a:pt x="9548" y="15813"/>
                </a:cubicBezTo>
                <a:cubicBezTo>
                  <a:pt x="6956" y="16012"/>
                  <a:pt x="4377" y="15977"/>
                  <a:pt x="1788" y="16009"/>
                </a:cubicBezTo>
                <a:cubicBezTo>
                  <a:pt x="1837" y="15879"/>
                  <a:pt x="1855" y="15736"/>
                  <a:pt x="1816" y="15615"/>
                </a:cubicBezTo>
                <a:cubicBezTo>
                  <a:pt x="1798" y="15556"/>
                  <a:pt x="1778" y="15497"/>
                  <a:pt x="1759" y="15438"/>
                </a:cubicBezTo>
                <a:cubicBezTo>
                  <a:pt x="1745" y="15392"/>
                  <a:pt x="1726" y="15347"/>
                  <a:pt x="1703" y="15306"/>
                </a:cubicBezTo>
                <a:cubicBezTo>
                  <a:pt x="10986" y="10717"/>
                  <a:pt x="20120" y="5833"/>
                  <a:pt x="29411" y="1254"/>
                </a:cubicBezTo>
                <a:close/>
                <a:moveTo>
                  <a:pt x="26395" y="8892"/>
                </a:moveTo>
                <a:cubicBezTo>
                  <a:pt x="28004" y="9838"/>
                  <a:pt x="29911" y="10434"/>
                  <a:pt x="31549" y="11326"/>
                </a:cubicBezTo>
                <a:cubicBezTo>
                  <a:pt x="33390" y="12329"/>
                  <a:pt x="35083" y="13505"/>
                  <a:pt x="36814" y="14674"/>
                </a:cubicBezTo>
                <a:cubicBezTo>
                  <a:pt x="36810" y="14693"/>
                  <a:pt x="36810" y="14712"/>
                  <a:pt x="36805" y="14732"/>
                </a:cubicBezTo>
                <a:cubicBezTo>
                  <a:pt x="36673" y="15199"/>
                  <a:pt x="36153" y="15305"/>
                  <a:pt x="35745" y="15521"/>
                </a:cubicBezTo>
                <a:cubicBezTo>
                  <a:pt x="33939" y="16469"/>
                  <a:pt x="32140" y="17429"/>
                  <a:pt x="30339" y="18384"/>
                </a:cubicBezTo>
                <a:lnTo>
                  <a:pt x="10312" y="29005"/>
                </a:lnTo>
                <a:cubicBezTo>
                  <a:pt x="10650" y="26988"/>
                  <a:pt x="10593" y="24814"/>
                  <a:pt x="10861" y="22800"/>
                </a:cubicBezTo>
                <a:cubicBezTo>
                  <a:pt x="11148" y="20642"/>
                  <a:pt x="11717" y="18486"/>
                  <a:pt x="11935" y="16319"/>
                </a:cubicBezTo>
                <a:cubicBezTo>
                  <a:pt x="14570" y="16042"/>
                  <a:pt x="17185" y="15652"/>
                  <a:pt x="19712" y="15320"/>
                </a:cubicBezTo>
                <a:cubicBezTo>
                  <a:pt x="20602" y="15204"/>
                  <a:pt x="21612" y="15215"/>
                  <a:pt x="22318" y="14591"/>
                </a:cubicBezTo>
                <a:cubicBezTo>
                  <a:pt x="23239" y="13777"/>
                  <a:pt x="23839" y="12448"/>
                  <a:pt x="24543" y="11446"/>
                </a:cubicBezTo>
                <a:cubicBezTo>
                  <a:pt x="25149" y="10585"/>
                  <a:pt x="25769" y="9736"/>
                  <a:pt x="26395" y="8892"/>
                </a:cubicBezTo>
                <a:close/>
                <a:moveTo>
                  <a:pt x="11565" y="16355"/>
                </a:moveTo>
                <a:cubicBezTo>
                  <a:pt x="10848" y="18447"/>
                  <a:pt x="10590" y="20799"/>
                  <a:pt x="10286" y="22960"/>
                </a:cubicBezTo>
                <a:cubicBezTo>
                  <a:pt x="10010" y="24932"/>
                  <a:pt x="9540" y="27177"/>
                  <a:pt x="9673" y="29206"/>
                </a:cubicBezTo>
                <a:cubicBezTo>
                  <a:pt x="8215" y="27203"/>
                  <a:pt x="6825" y="25154"/>
                  <a:pt x="5529" y="23041"/>
                </a:cubicBezTo>
                <a:cubicBezTo>
                  <a:pt x="4815" y="21877"/>
                  <a:pt x="4127" y="20697"/>
                  <a:pt x="3466" y="19503"/>
                </a:cubicBezTo>
                <a:cubicBezTo>
                  <a:pt x="3136" y="18907"/>
                  <a:pt x="2811" y="18305"/>
                  <a:pt x="2495" y="17701"/>
                </a:cubicBezTo>
                <a:cubicBezTo>
                  <a:pt x="2372" y="17469"/>
                  <a:pt x="2008" y="16935"/>
                  <a:pt x="1782" y="16461"/>
                </a:cubicBezTo>
                <a:lnTo>
                  <a:pt x="1782" y="16461"/>
                </a:lnTo>
                <a:cubicBezTo>
                  <a:pt x="3104" y="16615"/>
                  <a:pt x="4445" y="16680"/>
                  <a:pt x="5796" y="16680"/>
                </a:cubicBezTo>
                <a:cubicBezTo>
                  <a:pt x="7709" y="16680"/>
                  <a:pt x="9641" y="16549"/>
                  <a:pt x="11565" y="16355"/>
                </a:cubicBezTo>
                <a:close/>
                <a:moveTo>
                  <a:pt x="29638" y="1"/>
                </a:moveTo>
                <a:cubicBezTo>
                  <a:pt x="29542" y="1"/>
                  <a:pt x="29444" y="23"/>
                  <a:pt x="29354" y="67"/>
                </a:cubicBezTo>
                <a:cubicBezTo>
                  <a:pt x="19808" y="4672"/>
                  <a:pt x="10218" y="9366"/>
                  <a:pt x="1071" y="14724"/>
                </a:cubicBezTo>
                <a:cubicBezTo>
                  <a:pt x="965" y="14785"/>
                  <a:pt x="908" y="14870"/>
                  <a:pt x="886" y="14959"/>
                </a:cubicBezTo>
                <a:cubicBezTo>
                  <a:pt x="700" y="14987"/>
                  <a:pt x="517" y="15082"/>
                  <a:pt x="443" y="15256"/>
                </a:cubicBezTo>
                <a:cubicBezTo>
                  <a:pt x="1" y="16298"/>
                  <a:pt x="752" y="17207"/>
                  <a:pt x="1237" y="18139"/>
                </a:cubicBezTo>
                <a:cubicBezTo>
                  <a:pt x="1987" y="19577"/>
                  <a:pt x="2773" y="20994"/>
                  <a:pt x="3599" y="22390"/>
                </a:cubicBezTo>
                <a:cubicBezTo>
                  <a:pt x="5248" y="25185"/>
                  <a:pt x="7051" y="27880"/>
                  <a:pt x="8980" y="30488"/>
                </a:cubicBezTo>
                <a:cubicBezTo>
                  <a:pt x="9128" y="30689"/>
                  <a:pt x="9332" y="30810"/>
                  <a:pt x="9556" y="30810"/>
                </a:cubicBezTo>
                <a:cubicBezTo>
                  <a:pt x="9661" y="30810"/>
                  <a:pt x="9771" y="30783"/>
                  <a:pt x="9882" y="30724"/>
                </a:cubicBezTo>
                <a:lnTo>
                  <a:pt x="33215" y="18348"/>
                </a:lnTo>
                <a:cubicBezTo>
                  <a:pt x="34116" y="17871"/>
                  <a:pt x="35016" y="17394"/>
                  <a:pt x="35917" y="16917"/>
                </a:cubicBezTo>
                <a:cubicBezTo>
                  <a:pt x="36568" y="16569"/>
                  <a:pt x="37474" y="16245"/>
                  <a:pt x="37968" y="15675"/>
                </a:cubicBezTo>
                <a:cubicBezTo>
                  <a:pt x="39019" y="14464"/>
                  <a:pt x="37236" y="12516"/>
                  <a:pt x="36631" y="11474"/>
                </a:cubicBezTo>
                <a:cubicBezTo>
                  <a:pt x="34460" y="7732"/>
                  <a:pt x="32244" y="4018"/>
                  <a:pt x="30100" y="262"/>
                </a:cubicBezTo>
                <a:cubicBezTo>
                  <a:pt x="29998" y="84"/>
                  <a:pt x="29822" y="1"/>
                  <a:pt x="296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52"/>
          <p:cNvSpPr txBox="1">
            <a:spLocks noGrp="1"/>
          </p:cNvSpPr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uFill>
                  <a:noFill/>
                </a:uFill>
                <a:hlinkClick r:id="rId3" action="ppaction://hlinksldjump"/>
              </a:rPr>
              <a:t>Overview</a:t>
            </a:r>
            <a:endParaRPr dirty="0"/>
          </a:p>
        </p:txBody>
      </p:sp>
      <p:sp>
        <p:nvSpPr>
          <p:cNvPr id="336" name="Google Shape;336;p52"/>
          <p:cNvSpPr txBox="1">
            <a:spLocks noGrp="1"/>
          </p:cNvSpPr>
          <p:nvPr>
            <p:ph type="subTitle" idx="1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Disaster management</a:t>
            </a:r>
            <a:endParaRPr dirty="0"/>
          </a:p>
        </p:txBody>
      </p:sp>
      <p:sp>
        <p:nvSpPr>
          <p:cNvPr id="337" name="Google Shape;337;p52"/>
          <p:cNvSpPr txBox="1">
            <a:spLocks noGrp="1"/>
          </p:cNvSpPr>
          <p:nvPr>
            <p:ph type="title" idx="2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  <a:br>
              <a:rPr lang="en-US" dirty="0" smtClean="0"/>
            </a:br>
            <a:endParaRPr dirty="0"/>
          </a:p>
        </p:txBody>
      </p:sp>
      <p:sp>
        <p:nvSpPr>
          <p:cNvPr id="338" name="Google Shape;338;p52"/>
          <p:cNvSpPr txBox="1">
            <a:spLocks noGrp="1"/>
          </p:cNvSpPr>
          <p:nvPr>
            <p:ph type="subTitle" idx="3"/>
          </p:nvPr>
        </p:nvSpPr>
        <p:spPr>
          <a:xfrm>
            <a:off x="5198027" y="1346883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Natural disasters</a:t>
            </a:r>
            <a:br>
              <a:rPr lang="en-US" dirty="0" smtClean="0"/>
            </a:br>
            <a:r>
              <a:rPr lang="en-US" dirty="0" smtClean="0"/>
              <a:t>Artificial disasters</a:t>
            </a:r>
            <a:br>
              <a:rPr lang="en-US" dirty="0" smtClean="0"/>
            </a:br>
            <a:r>
              <a:rPr lang="en-US" dirty="0" smtClean="0"/>
              <a:t>Disaster management</a:t>
            </a:r>
            <a:br>
              <a:rPr lang="en-US" dirty="0" smtClean="0"/>
            </a:br>
            <a:r>
              <a:rPr lang="en-US" dirty="0" smtClean="0"/>
              <a:t>Outro</a:t>
            </a:r>
            <a:endParaRPr dirty="0"/>
          </a:p>
        </p:txBody>
      </p:sp>
      <p:sp>
        <p:nvSpPr>
          <p:cNvPr id="339" name="Google Shape;339;p52"/>
          <p:cNvSpPr txBox="1">
            <a:spLocks noGrp="1"/>
          </p:cNvSpPr>
          <p:nvPr>
            <p:ph type="title" idx="4"/>
          </p:nvPr>
        </p:nvSpPr>
        <p:spPr>
          <a:xfrm>
            <a:off x="907470" y="3221098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tx1"/>
                </a:solidFill>
                <a:uFill>
                  <a:noFill/>
                </a:uFill>
              </a:rPr>
              <a:t>Disaster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0" name="Google Shape;340;p52"/>
          <p:cNvSpPr txBox="1">
            <a:spLocks noGrp="1"/>
          </p:cNvSpPr>
          <p:nvPr>
            <p:ph type="subTitle" idx="5"/>
          </p:nvPr>
        </p:nvSpPr>
        <p:spPr>
          <a:xfrm>
            <a:off x="907470" y="3685875"/>
            <a:ext cx="3348843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dirty="0" smtClean="0"/>
              <a:t>What is disaster?</a:t>
            </a:r>
            <a:br>
              <a:rPr lang="en" dirty="0" smtClean="0"/>
            </a:br>
            <a:r>
              <a:rPr lang="en" dirty="0" smtClean="0"/>
              <a:t>How is disaster formed?</a:t>
            </a:r>
            <a:br>
              <a:rPr lang="en" dirty="0" smtClean="0"/>
            </a:br>
            <a:r>
              <a:rPr lang="en" dirty="0" smtClean="0"/>
              <a:t>Types of disaster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p52"/>
          <p:cNvSpPr txBox="1">
            <a:spLocks noGrp="1"/>
          </p:cNvSpPr>
          <p:nvPr>
            <p:ph type="title" idx="6"/>
          </p:nvPr>
        </p:nvSpPr>
        <p:spPr>
          <a:xfrm>
            <a:off x="5318730" y="3221098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  <a:br>
              <a:rPr lang="en-US" dirty="0" smtClean="0"/>
            </a:br>
            <a:endParaRPr dirty="0"/>
          </a:p>
        </p:txBody>
      </p:sp>
      <p:sp>
        <p:nvSpPr>
          <p:cNvPr id="342" name="Google Shape;342;p52"/>
          <p:cNvSpPr txBox="1">
            <a:spLocks noGrp="1"/>
          </p:cNvSpPr>
          <p:nvPr>
            <p:ph type="subTitle" idx="7"/>
          </p:nvPr>
        </p:nvSpPr>
        <p:spPr>
          <a:xfrm>
            <a:off x="5340612" y="3685874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43" name="Google Shape;343;p52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-8782544" flipH="1">
            <a:off x="2490549" y="1039473"/>
            <a:ext cx="1124399" cy="510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5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 dirty="0"/>
          </a:p>
        </p:txBody>
      </p:sp>
      <p:pic>
        <p:nvPicPr>
          <p:cNvPr id="350" name="Google Shape;350;p5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5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5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353" name="Google Shape;353;p5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DISASTER MANAGEMENT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4"/>
          <p:cNvSpPr txBox="1">
            <a:spLocks noGrp="1"/>
          </p:cNvSpPr>
          <p:nvPr>
            <p:ph type="body" idx="1"/>
          </p:nvPr>
        </p:nvSpPr>
        <p:spPr>
          <a:xfrm>
            <a:off x="574305" y="1400314"/>
            <a:ext cx="3649352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200" dirty="0"/>
              <a:t>Disaster in Short Words: </a:t>
            </a:r>
            <a:endParaRPr lang="en-US" sz="1200" dirty="0" smtClean="0"/>
          </a:p>
          <a:p>
            <a:pPr marL="0" lvl="0" indent="0">
              <a:spcAft>
                <a:spcPts val="1600"/>
              </a:spcAft>
              <a:buNone/>
            </a:pPr>
            <a:r>
              <a:rPr lang="en-US" sz="1200" dirty="0" smtClean="0"/>
              <a:t>An </a:t>
            </a:r>
            <a:r>
              <a:rPr lang="en-US" sz="1200" dirty="0"/>
              <a:t>event that causes a lot of harm or damage</a:t>
            </a:r>
            <a:r>
              <a:rPr lang="en-US" sz="1200" dirty="0" smtClean="0"/>
              <a:t>.</a:t>
            </a:r>
            <a:br>
              <a:rPr lang="en-US" sz="1200" dirty="0" smtClean="0"/>
            </a:br>
            <a:r>
              <a:rPr lang="en-US" sz="1200" dirty="0" smtClean="0"/>
              <a:t> 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200" dirty="0" smtClean="0"/>
              <a:t>Formation </a:t>
            </a:r>
            <a:r>
              <a:rPr lang="en-US" sz="1200" dirty="0"/>
              <a:t>of Disaster: Disasters are serious disruptions to the functioning of a community that exceed its capacity to cope using its own resources. Disasters can be caused by natural, man-made and technological hazards, as well as various factors that influence the exposure and vulnerability of a community</a:t>
            </a:r>
            <a:endParaRPr lang="en" sz="1200" dirty="0"/>
          </a:p>
        </p:txBody>
      </p:sp>
      <p:sp>
        <p:nvSpPr>
          <p:cNvPr id="359" name="Google Shape;359;p54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pic>
        <p:nvPicPr>
          <p:cNvPr id="360" name="Google Shape;360;p5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1124175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4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3094">
            <a:off x="6001750" y="2811888"/>
            <a:ext cx="1844901" cy="13836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62" name="Google Shape;362;p54"/>
          <p:cNvSpPr/>
          <p:nvPr/>
        </p:nvSpPr>
        <p:spPr>
          <a:xfrm rot="-391042">
            <a:off x="5665714" y="2448475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63" name="Google Shape;363;p54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695" y="1103650"/>
            <a:ext cx="1946999" cy="13347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64" name="Google Shape;364;p54"/>
          <p:cNvSpPr/>
          <p:nvPr/>
        </p:nvSpPr>
        <p:spPr>
          <a:xfrm rot="-2148808">
            <a:off x="5649174" y="1078575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</a:endParaRPr>
          </a:p>
        </p:txBody>
      </p:sp>
      <p:sp>
        <p:nvSpPr>
          <p:cNvPr id="365" name="Google Shape;365;p54"/>
          <p:cNvSpPr/>
          <p:nvPr/>
        </p:nvSpPr>
        <p:spPr>
          <a:xfrm>
            <a:off x="7449875" y="914336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</a:endParaRPr>
          </a:p>
        </p:txBody>
      </p:sp>
      <p:pic>
        <p:nvPicPr>
          <p:cNvPr id="366" name="Google Shape;366;p54"/>
          <p:cNvPicPr preferRelativeResize="0"/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6023610" flipH="1">
            <a:off x="4575756" y="2456753"/>
            <a:ext cx="1579416" cy="716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>
            <a:spLocks noGrp="1"/>
          </p:cNvSpPr>
          <p:nvPr>
            <p:ph type="body" idx="1"/>
          </p:nvPr>
        </p:nvSpPr>
        <p:spPr>
          <a:xfrm>
            <a:off x="2649000" y="2142600"/>
            <a:ext cx="3846000" cy="18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US" dirty="0"/>
              <a:t>There are 2 types of Disaster: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</a:t>
            </a:r>
            <a:r>
              <a:rPr lang="en-US" dirty="0"/>
              <a:t>. Natural Disasters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2</a:t>
            </a:r>
            <a:r>
              <a:rPr lang="en-US" dirty="0"/>
              <a:t>. Man Made Disasters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372" name="Google Shape;372;p55"/>
          <p:cNvSpPr txBox="1">
            <a:spLocks noGrp="1"/>
          </p:cNvSpPr>
          <p:nvPr>
            <p:ph type="title"/>
          </p:nvPr>
        </p:nvSpPr>
        <p:spPr>
          <a:xfrm>
            <a:off x="3127075" y="1366750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TYPES</a:t>
            </a:r>
            <a:endParaRPr dirty="0"/>
          </a:p>
        </p:txBody>
      </p:sp>
      <p:pic>
        <p:nvPicPr>
          <p:cNvPr id="373" name="Google Shape;373;p55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3618463" y="1839900"/>
            <a:ext cx="1918825" cy="2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5"/>
          <p:cNvPicPr preferRelativeResize="0"/>
          <p:nvPr/>
        </p:nvPicPr>
        <p:blipFill rotWithShape="1">
          <a:blip r:embed="rId4">
            <a:alphaModFix/>
          </a:blip>
          <a:srcRect t="16734" r="8892" b="18300"/>
          <a:stretch/>
        </p:blipFill>
        <p:spPr>
          <a:xfrm>
            <a:off x="6385650" y="1079132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5"/>
          <p:cNvPicPr preferRelativeResize="0"/>
          <p:nvPr/>
        </p:nvPicPr>
        <p:blipFill rotWithShape="1">
          <a:blip r:embed="rId4">
            <a:alphaModFix/>
          </a:blip>
          <a:srcRect t="16734" r="8892" b="18300"/>
          <a:stretch/>
        </p:blipFill>
        <p:spPr>
          <a:xfrm>
            <a:off x="6385650" y="1685357"/>
            <a:ext cx="2036850" cy="846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62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9455883" flipH="1">
            <a:off x="1598802" y="446966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62"/>
          <p:cNvSpPr txBox="1">
            <a:spLocks noGrp="1"/>
          </p:cNvSpPr>
          <p:nvPr>
            <p:ph type="title"/>
          </p:nvPr>
        </p:nvSpPr>
        <p:spPr>
          <a:xfrm>
            <a:off x="534900" y="1558582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Natural</a:t>
            </a:r>
            <a:br>
              <a:rPr lang="en" dirty="0" smtClean="0"/>
            </a:br>
            <a:r>
              <a:rPr lang="en" dirty="0" smtClean="0"/>
              <a:t>disaster</a:t>
            </a:r>
            <a:endParaRPr dirty="0"/>
          </a:p>
        </p:txBody>
      </p:sp>
      <p:sp>
        <p:nvSpPr>
          <p:cNvPr id="485" name="Google Shape;485;p62"/>
          <p:cNvSpPr txBox="1">
            <a:spLocks noGrp="1"/>
          </p:cNvSpPr>
          <p:nvPr>
            <p:ph type="subTitle" idx="1"/>
          </p:nvPr>
        </p:nvSpPr>
        <p:spPr>
          <a:xfrm>
            <a:off x="799650" y="3241096"/>
            <a:ext cx="32685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6" name="Google Shape;486;p62"/>
          <p:cNvSpPr txBox="1">
            <a:spLocks noGrp="1"/>
          </p:cNvSpPr>
          <p:nvPr>
            <p:ph type="title" idx="2"/>
          </p:nvPr>
        </p:nvSpPr>
        <p:spPr>
          <a:xfrm>
            <a:off x="1553076" y="481396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487" name="Google Shape;487;p62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5223">
            <a:off x="5265536" y="1528131"/>
            <a:ext cx="2946285" cy="214641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88" name="Google Shape;488;p62"/>
          <p:cNvSpPr/>
          <p:nvPr/>
        </p:nvSpPr>
        <p:spPr>
          <a:xfrm rot="-594043">
            <a:off x="5239927" y="941885"/>
            <a:ext cx="937065" cy="552301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9" name="Google Shape;489;p62"/>
          <p:cNvSpPr/>
          <p:nvPr/>
        </p:nvSpPr>
        <p:spPr>
          <a:xfrm rot="-594043">
            <a:off x="7483974" y="3689665"/>
            <a:ext cx="937065" cy="552301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90" name="Google Shape;490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897" y="3897188"/>
            <a:ext cx="2015919" cy="10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3"/>
          <p:cNvSpPr txBox="1">
            <a:spLocks noGrp="1"/>
          </p:cNvSpPr>
          <p:nvPr>
            <p:ph type="title" idx="6"/>
          </p:nvPr>
        </p:nvSpPr>
        <p:spPr>
          <a:xfrm>
            <a:off x="1002325" y="711181"/>
            <a:ext cx="292074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Natural Disaster</a:t>
            </a:r>
            <a:endParaRPr dirty="0"/>
          </a:p>
        </p:txBody>
      </p:sp>
      <p:grpSp>
        <p:nvGrpSpPr>
          <p:cNvPr id="496" name="Google Shape;496;p63"/>
          <p:cNvGrpSpPr/>
          <p:nvPr/>
        </p:nvGrpSpPr>
        <p:grpSpPr>
          <a:xfrm>
            <a:off x="1002325" y="1578276"/>
            <a:ext cx="2920746" cy="2974059"/>
            <a:chOff x="-331425" y="1579700"/>
            <a:chExt cx="1880250" cy="1905825"/>
          </a:xfrm>
        </p:grpSpPr>
        <p:sp>
          <p:nvSpPr>
            <p:cNvPr id="497" name="Google Shape;497;p63"/>
            <p:cNvSpPr/>
            <p:nvPr/>
          </p:nvSpPr>
          <p:spPr>
            <a:xfrm>
              <a:off x="-72650" y="1864050"/>
              <a:ext cx="1621475" cy="1621475"/>
            </a:xfrm>
            <a:custGeom>
              <a:avLst/>
              <a:gdLst/>
              <a:ahLst/>
              <a:cxnLst/>
              <a:rect l="l" t="t" r="r" b="b"/>
              <a:pathLst>
                <a:path w="64859" h="64859" extrusionOk="0">
                  <a:moveTo>
                    <a:pt x="7060" y="1"/>
                  </a:moveTo>
                  <a:lnTo>
                    <a:pt x="1" y="57794"/>
                  </a:lnTo>
                  <a:lnTo>
                    <a:pt x="57800" y="64858"/>
                  </a:lnTo>
                  <a:lnTo>
                    <a:pt x="64858" y="7060"/>
                  </a:lnTo>
                  <a:lnTo>
                    <a:pt x="58170" y="6238"/>
                  </a:lnTo>
                  <a:lnTo>
                    <a:pt x="58170" y="6238"/>
                  </a:lnTo>
                  <a:cubicBezTo>
                    <a:pt x="59249" y="7937"/>
                    <a:pt x="58324" y="10802"/>
                    <a:pt x="55874" y="10802"/>
                  </a:cubicBezTo>
                  <a:cubicBezTo>
                    <a:pt x="55742" y="10802"/>
                    <a:pt x="55605" y="10794"/>
                    <a:pt x="55465" y="10777"/>
                  </a:cubicBezTo>
                  <a:cubicBezTo>
                    <a:pt x="52716" y="10439"/>
                    <a:pt x="52395" y="7185"/>
                    <a:pt x="53935" y="5721"/>
                  </a:cubicBezTo>
                  <a:lnTo>
                    <a:pt x="48068" y="5008"/>
                  </a:lnTo>
                  <a:lnTo>
                    <a:pt x="48068" y="5008"/>
                  </a:lnTo>
                  <a:cubicBezTo>
                    <a:pt x="48897" y="6661"/>
                    <a:pt x="47978" y="9180"/>
                    <a:pt x="45724" y="9180"/>
                  </a:cubicBezTo>
                  <a:cubicBezTo>
                    <a:pt x="45596" y="9180"/>
                    <a:pt x="45463" y="9172"/>
                    <a:pt x="45325" y="9155"/>
                  </a:cubicBezTo>
                  <a:cubicBezTo>
                    <a:pt x="42784" y="8845"/>
                    <a:pt x="42397" y="5955"/>
                    <a:pt x="43671" y="4464"/>
                  </a:cubicBezTo>
                  <a:lnTo>
                    <a:pt x="37369" y="3702"/>
                  </a:lnTo>
                  <a:lnTo>
                    <a:pt x="37369" y="3702"/>
                  </a:lnTo>
                  <a:cubicBezTo>
                    <a:pt x="37603" y="3974"/>
                    <a:pt x="37782" y="4284"/>
                    <a:pt x="37907" y="4621"/>
                  </a:cubicBezTo>
                  <a:cubicBezTo>
                    <a:pt x="38098" y="5062"/>
                    <a:pt x="38169" y="5547"/>
                    <a:pt x="38109" y="6026"/>
                  </a:cubicBezTo>
                  <a:lnTo>
                    <a:pt x="37929" y="6728"/>
                  </a:lnTo>
                  <a:cubicBezTo>
                    <a:pt x="37487" y="7799"/>
                    <a:pt x="36466" y="8409"/>
                    <a:pt x="35415" y="8409"/>
                  </a:cubicBezTo>
                  <a:cubicBezTo>
                    <a:pt x="34849" y="8409"/>
                    <a:pt x="34274" y="8232"/>
                    <a:pt x="33777" y="7854"/>
                  </a:cubicBezTo>
                  <a:cubicBezTo>
                    <a:pt x="33472" y="7647"/>
                    <a:pt x="33211" y="7392"/>
                    <a:pt x="32998" y="7092"/>
                  </a:cubicBezTo>
                  <a:cubicBezTo>
                    <a:pt x="32558" y="6494"/>
                    <a:pt x="32340" y="5802"/>
                    <a:pt x="32432" y="5051"/>
                  </a:cubicBezTo>
                  <a:cubicBezTo>
                    <a:pt x="32519" y="4333"/>
                    <a:pt x="32884" y="3674"/>
                    <a:pt x="33450" y="3223"/>
                  </a:cubicBezTo>
                  <a:lnTo>
                    <a:pt x="26761" y="2406"/>
                  </a:lnTo>
                  <a:lnTo>
                    <a:pt x="26761" y="2406"/>
                  </a:lnTo>
                  <a:cubicBezTo>
                    <a:pt x="27618" y="4006"/>
                    <a:pt x="26733" y="6506"/>
                    <a:pt x="24519" y="6506"/>
                  </a:cubicBezTo>
                  <a:cubicBezTo>
                    <a:pt x="24398" y="6506"/>
                    <a:pt x="24273" y="6498"/>
                    <a:pt x="24144" y="6483"/>
                  </a:cubicBezTo>
                  <a:cubicBezTo>
                    <a:pt x="21662" y="6178"/>
                    <a:pt x="21303" y="3315"/>
                    <a:pt x="22587" y="1895"/>
                  </a:cubicBezTo>
                  <a:lnTo>
                    <a:pt x="17493" y="1274"/>
                  </a:lnTo>
                  <a:lnTo>
                    <a:pt x="17493" y="1274"/>
                  </a:lnTo>
                  <a:cubicBezTo>
                    <a:pt x="17536" y="1405"/>
                    <a:pt x="17564" y="1541"/>
                    <a:pt x="17585" y="1677"/>
                  </a:cubicBezTo>
                  <a:cubicBezTo>
                    <a:pt x="17607" y="2194"/>
                    <a:pt x="17651" y="2787"/>
                    <a:pt x="17389" y="3266"/>
                  </a:cubicBezTo>
                  <a:cubicBezTo>
                    <a:pt x="17134" y="3729"/>
                    <a:pt x="16927" y="4164"/>
                    <a:pt x="16464" y="4469"/>
                  </a:cubicBezTo>
                  <a:cubicBezTo>
                    <a:pt x="16002" y="4779"/>
                    <a:pt x="15577" y="5030"/>
                    <a:pt x="15011" y="5089"/>
                  </a:cubicBezTo>
                  <a:cubicBezTo>
                    <a:pt x="14876" y="5109"/>
                    <a:pt x="14739" y="5118"/>
                    <a:pt x="14603" y="5118"/>
                  </a:cubicBezTo>
                  <a:cubicBezTo>
                    <a:pt x="14237" y="5118"/>
                    <a:pt x="13872" y="5049"/>
                    <a:pt x="13531" y="4910"/>
                  </a:cubicBezTo>
                  <a:cubicBezTo>
                    <a:pt x="11838" y="4213"/>
                    <a:pt x="11256" y="2112"/>
                    <a:pt x="12355" y="648"/>
                  </a:cubicBezTo>
                  <a:lnTo>
                    <a:pt x="7060" y="1"/>
                  </a:lnTo>
                  <a:close/>
                </a:path>
              </a:pathLst>
            </a:custGeom>
            <a:solidFill>
              <a:schemeClr val="dk1">
                <a:alpha val="2678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" name="Google Shape;498;p63"/>
            <p:cNvSpPr/>
            <p:nvPr/>
          </p:nvSpPr>
          <p:spPr>
            <a:xfrm>
              <a:off x="-82425" y="1854000"/>
              <a:ext cx="1621450" cy="1621725"/>
            </a:xfrm>
            <a:custGeom>
              <a:avLst/>
              <a:gdLst/>
              <a:ahLst/>
              <a:cxnLst/>
              <a:rect l="l" t="t" r="r" b="b"/>
              <a:pathLst>
                <a:path w="64858" h="64869" extrusionOk="0">
                  <a:moveTo>
                    <a:pt x="7064" y="0"/>
                  </a:moveTo>
                  <a:lnTo>
                    <a:pt x="0" y="57810"/>
                  </a:lnTo>
                  <a:lnTo>
                    <a:pt x="57799" y="64868"/>
                  </a:lnTo>
                  <a:lnTo>
                    <a:pt x="64857" y="7064"/>
                  </a:lnTo>
                  <a:lnTo>
                    <a:pt x="58169" y="6248"/>
                  </a:lnTo>
                  <a:lnTo>
                    <a:pt x="58169" y="6248"/>
                  </a:lnTo>
                  <a:cubicBezTo>
                    <a:pt x="59248" y="7947"/>
                    <a:pt x="58323" y="10812"/>
                    <a:pt x="55873" y="10812"/>
                  </a:cubicBezTo>
                  <a:cubicBezTo>
                    <a:pt x="55741" y="10812"/>
                    <a:pt x="55605" y="10804"/>
                    <a:pt x="55464" y="10787"/>
                  </a:cubicBezTo>
                  <a:cubicBezTo>
                    <a:pt x="52715" y="10449"/>
                    <a:pt x="52394" y="7195"/>
                    <a:pt x="53935" y="5731"/>
                  </a:cubicBezTo>
                  <a:lnTo>
                    <a:pt x="48068" y="5018"/>
                  </a:lnTo>
                  <a:lnTo>
                    <a:pt x="48068" y="5018"/>
                  </a:lnTo>
                  <a:cubicBezTo>
                    <a:pt x="48897" y="6671"/>
                    <a:pt x="47982" y="9190"/>
                    <a:pt x="45724" y="9190"/>
                  </a:cubicBezTo>
                  <a:cubicBezTo>
                    <a:pt x="45595" y="9190"/>
                    <a:pt x="45462" y="9182"/>
                    <a:pt x="45325" y="9165"/>
                  </a:cubicBezTo>
                  <a:cubicBezTo>
                    <a:pt x="42783" y="8849"/>
                    <a:pt x="42397" y="5965"/>
                    <a:pt x="43670" y="4474"/>
                  </a:cubicBezTo>
                  <a:lnTo>
                    <a:pt x="37368" y="3701"/>
                  </a:lnTo>
                  <a:lnTo>
                    <a:pt x="37368" y="3701"/>
                  </a:lnTo>
                  <a:cubicBezTo>
                    <a:pt x="37602" y="3973"/>
                    <a:pt x="37781" y="4289"/>
                    <a:pt x="37907" y="4621"/>
                  </a:cubicBezTo>
                  <a:cubicBezTo>
                    <a:pt x="38097" y="5061"/>
                    <a:pt x="38168" y="5551"/>
                    <a:pt x="38108" y="6025"/>
                  </a:cubicBezTo>
                  <a:cubicBezTo>
                    <a:pt x="38048" y="6264"/>
                    <a:pt x="37988" y="6498"/>
                    <a:pt x="37928" y="6732"/>
                  </a:cubicBezTo>
                  <a:cubicBezTo>
                    <a:pt x="37486" y="7801"/>
                    <a:pt x="36463" y="8410"/>
                    <a:pt x="35412" y="8410"/>
                  </a:cubicBezTo>
                  <a:cubicBezTo>
                    <a:pt x="34846" y="8410"/>
                    <a:pt x="34272" y="8234"/>
                    <a:pt x="33776" y="7859"/>
                  </a:cubicBezTo>
                  <a:cubicBezTo>
                    <a:pt x="33471" y="7652"/>
                    <a:pt x="33210" y="7396"/>
                    <a:pt x="32998" y="7097"/>
                  </a:cubicBezTo>
                  <a:cubicBezTo>
                    <a:pt x="32557" y="6498"/>
                    <a:pt x="32339" y="5802"/>
                    <a:pt x="32432" y="5056"/>
                  </a:cubicBezTo>
                  <a:cubicBezTo>
                    <a:pt x="32519" y="4332"/>
                    <a:pt x="32889" y="3679"/>
                    <a:pt x="33455" y="3222"/>
                  </a:cubicBezTo>
                  <a:lnTo>
                    <a:pt x="26766" y="2406"/>
                  </a:lnTo>
                  <a:lnTo>
                    <a:pt x="26766" y="2406"/>
                  </a:lnTo>
                  <a:cubicBezTo>
                    <a:pt x="27623" y="4005"/>
                    <a:pt x="26737" y="6505"/>
                    <a:pt x="24523" y="6505"/>
                  </a:cubicBezTo>
                  <a:cubicBezTo>
                    <a:pt x="24402" y="6505"/>
                    <a:pt x="24277" y="6497"/>
                    <a:pt x="24148" y="6482"/>
                  </a:cubicBezTo>
                  <a:cubicBezTo>
                    <a:pt x="21666" y="6177"/>
                    <a:pt x="21307" y="3320"/>
                    <a:pt x="22592" y="1899"/>
                  </a:cubicBezTo>
                  <a:lnTo>
                    <a:pt x="17497" y="1274"/>
                  </a:lnTo>
                  <a:lnTo>
                    <a:pt x="17497" y="1274"/>
                  </a:lnTo>
                  <a:cubicBezTo>
                    <a:pt x="17541" y="1410"/>
                    <a:pt x="17568" y="1540"/>
                    <a:pt x="17590" y="1676"/>
                  </a:cubicBezTo>
                  <a:cubicBezTo>
                    <a:pt x="17612" y="2193"/>
                    <a:pt x="17655" y="2787"/>
                    <a:pt x="17394" y="3265"/>
                  </a:cubicBezTo>
                  <a:cubicBezTo>
                    <a:pt x="17138" y="3728"/>
                    <a:pt x="16931" y="4163"/>
                    <a:pt x="16469" y="4474"/>
                  </a:cubicBezTo>
                  <a:cubicBezTo>
                    <a:pt x="16006" y="4778"/>
                    <a:pt x="15582" y="5029"/>
                    <a:pt x="15016" y="5089"/>
                  </a:cubicBezTo>
                  <a:cubicBezTo>
                    <a:pt x="14879" y="5110"/>
                    <a:pt x="14741" y="5120"/>
                    <a:pt x="14604" y="5120"/>
                  </a:cubicBezTo>
                  <a:cubicBezTo>
                    <a:pt x="14238" y="5120"/>
                    <a:pt x="13875" y="5047"/>
                    <a:pt x="13535" y="4909"/>
                  </a:cubicBezTo>
                  <a:cubicBezTo>
                    <a:pt x="11843" y="4218"/>
                    <a:pt x="11260" y="2112"/>
                    <a:pt x="12360" y="648"/>
                  </a:cubicBezTo>
                  <a:lnTo>
                    <a:pt x="70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2863" dist="38100" dir="216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" name="Google Shape;499;p63"/>
            <p:cNvSpPr/>
            <p:nvPr/>
          </p:nvSpPr>
          <p:spPr>
            <a:xfrm>
              <a:off x="-331425" y="1579700"/>
              <a:ext cx="1101300" cy="649025"/>
            </a:xfrm>
            <a:custGeom>
              <a:avLst/>
              <a:gdLst/>
              <a:ahLst/>
              <a:cxnLst/>
              <a:rect l="l" t="t" r="r" b="b"/>
              <a:pathLst>
                <a:path w="44052" h="25961" extrusionOk="0">
                  <a:moveTo>
                    <a:pt x="40035" y="0"/>
                  </a:moveTo>
                  <a:lnTo>
                    <a:pt x="0" y="15402"/>
                  </a:lnTo>
                  <a:cubicBezTo>
                    <a:pt x="0" y="15402"/>
                    <a:pt x="1513" y="15761"/>
                    <a:pt x="1873" y="16638"/>
                  </a:cubicBezTo>
                  <a:cubicBezTo>
                    <a:pt x="2237" y="17514"/>
                    <a:pt x="1524" y="18526"/>
                    <a:pt x="1524" y="18526"/>
                  </a:cubicBezTo>
                  <a:cubicBezTo>
                    <a:pt x="1524" y="18526"/>
                    <a:pt x="2999" y="18885"/>
                    <a:pt x="3380" y="19816"/>
                  </a:cubicBezTo>
                  <a:cubicBezTo>
                    <a:pt x="3767" y="20752"/>
                    <a:pt x="2885" y="22439"/>
                    <a:pt x="2885" y="22439"/>
                  </a:cubicBezTo>
                  <a:cubicBezTo>
                    <a:pt x="2885" y="22439"/>
                    <a:pt x="4447" y="23011"/>
                    <a:pt x="4703" y="23631"/>
                  </a:cubicBezTo>
                  <a:cubicBezTo>
                    <a:pt x="4958" y="24252"/>
                    <a:pt x="4327" y="25960"/>
                    <a:pt x="4327" y="25960"/>
                  </a:cubicBezTo>
                  <a:lnTo>
                    <a:pt x="44051" y="10684"/>
                  </a:lnTo>
                  <a:cubicBezTo>
                    <a:pt x="41510" y="9791"/>
                    <a:pt x="42609" y="7168"/>
                    <a:pt x="42609" y="7168"/>
                  </a:cubicBezTo>
                  <a:cubicBezTo>
                    <a:pt x="42609" y="7168"/>
                    <a:pt x="41521" y="6466"/>
                    <a:pt x="41047" y="5753"/>
                  </a:cubicBezTo>
                  <a:cubicBezTo>
                    <a:pt x="40574" y="5040"/>
                    <a:pt x="41434" y="3418"/>
                    <a:pt x="41434" y="3418"/>
                  </a:cubicBezTo>
                  <a:cubicBezTo>
                    <a:pt x="41434" y="3418"/>
                    <a:pt x="39806" y="2993"/>
                    <a:pt x="39491" y="2221"/>
                  </a:cubicBezTo>
                  <a:cubicBezTo>
                    <a:pt x="39175" y="1442"/>
                    <a:pt x="40035" y="0"/>
                    <a:pt x="40035" y="0"/>
                  </a:cubicBezTo>
                  <a:close/>
                </a:path>
              </a:pathLst>
            </a:custGeom>
            <a:solidFill>
              <a:schemeClr val="dk1">
                <a:alpha val="2678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00" name="Google Shape;500;p63"/>
          <p:cNvSpPr txBox="1">
            <a:spLocks noGrp="1"/>
          </p:cNvSpPr>
          <p:nvPr>
            <p:ph type="body" idx="4294967295"/>
          </p:nvPr>
        </p:nvSpPr>
        <p:spPr>
          <a:xfrm rot="390862">
            <a:off x="1782321" y="2282206"/>
            <a:ext cx="2043090" cy="11314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400" b="1" dirty="0"/>
              <a:t>A major event brought about by the natural processes of the Earth that causes widespread destruction to the environment and loss of life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501" name="Google Shape;501;p63"/>
          <p:cNvSpPr txBox="1">
            <a:spLocks noGrp="1"/>
          </p:cNvSpPr>
          <p:nvPr>
            <p:ph type="title"/>
          </p:nvPr>
        </p:nvSpPr>
        <p:spPr>
          <a:xfrm>
            <a:off x="6013614" y="838400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Heatwaves</a:t>
            </a:r>
            <a:endParaRPr dirty="0"/>
          </a:p>
        </p:txBody>
      </p:sp>
      <p:sp>
        <p:nvSpPr>
          <p:cNvPr id="502" name="Google Shape;502;p63"/>
          <p:cNvSpPr txBox="1">
            <a:spLocks noGrp="1"/>
          </p:cNvSpPr>
          <p:nvPr>
            <p:ph type="subTitle" idx="1"/>
          </p:nvPr>
        </p:nvSpPr>
        <p:spPr>
          <a:xfrm>
            <a:off x="4753171" y="1351748"/>
            <a:ext cx="366324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Heat Wave is a period of abnormally high temperatures, more than the normal maximum temperature that occurs during the summer season in the North-Western parts of India. Heat Waves typically occur between March and June, and in some rare cases even extend till July.</a:t>
            </a:r>
            <a:endParaRPr dirty="0"/>
          </a:p>
        </p:txBody>
      </p:sp>
      <p:sp>
        <p:nvSpPr>
          <p:cNvPr id="503" name="Google Shape;503;p63"/>
          <p:cNvSpPr txBox="1">
            <a:spLocks noGrp="1"/>
          </p:cNvSpPr>
          <p:nvPr>
            <p:ph type="title" idx="2"/>
          </p:nvPr>
        </p:nvSpPr>
        <p:spPr>
          <a:xfrm>
            <a:off x="6013603" y="2104924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  <a:br>
              <a:rPr lang="en-US" dirty="0" smtClean="0"/>
            </a:br>
            <a:endParaRPr dirty="0"/>
          </a:p>
        </p:txBody>
      </p:sp>
      <p:sp>
        <p:nvSpPr>
          <p:cNvPr id="504" name="Google Shape;504;p63"/>
          <p:cNvSpPr txBox="1">
            <a:spLocks noGrp="1"/>
          </p:cNvSpPr>
          <p:nvPr>
            <p:ph type="subTitle" idx="3"/>
          </p:nvPr>
        </p:nvSpPr>
        <p:spPr>
          <a:xfrm>
            <a:off x="6013601" y="2465876"/>
            <a:ext cx="233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5" name="Google Shape;505;p63"/>
          <p:cNvSpPr txBox="1">
            <a:spLocks noGrp="1"/>
          </p:cNvSpPr>
          <p:nvPr>
            <p:ph type="title" idx="4"/>
          </p:nvPr>
        </p:nvSpPr>
        <p:spPr>
          <a:xfrm>
            <a:off x="6013618" y="3371448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  <a:br>
              <a:rPr lang="en-US" dirty="0" smtClean="0"/>
            </a:br>
            <a:endParaRPr dirty="0"/>
          </a:p>
        </p:txBody>
      </p:sp>
      <p:sp>
        <p:nvSpPr>
          <p:cNvPr id="506" name="Google Shape;506;p63"/>
          <p:cNvSpPr txBox="1">
            <a:spLocks noGrp="1"/>
          </p:cNvSpPr>
          <p:nvPr>
            <p:ph type="subTitle" idx="5"/>
          </p:nvPr>
        </p:nvSpPr>
        <p:spPr>
          <a:xfrm>
            <a:off x="6013615" y="3732400"/>
            <a:ext cx="233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9"/>
          <p:cNvSpPr txBox="1">
            <a:spLocks noGrp="1"/>
          </p:cNvSpPr>
          <p:nvPr>
            <p:ph type="body" idx="1"/>
          </p:nvPr>
        </p:nvSpPr>
        <p:spPr>
          <a:xfrm>
            <a:off x="4797860" y="1825377"/>
            <a:ext cx="3845654" cy="1358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The blizzard had struck around 2:45 PM on Saturday and the local unit of the army swung into action within an hour to rescue the tourists which included nationals from Japan, New Zealand and </a:t>
            </a:r>
            <a:r>
              <a:rPr lang="en-US" dirty="0" err="1"/>
              <a:t>Bulgaria.A</a:t>
            </a:r>
            <a:r>
              <a:rPr lang="en-US" dirty="0"/>
              <a:t> Bulgarian woman died while 127 other tourists, including five foreigners, were rescued by the army after they were stuck in a raging snowstorm at the historic </a:t>
            </a:r>
            <a:r>
              <a:rPr lang="en-US" dirty="0" err="1"/>
              <a:t>Sela</a:t>
            </a:r>
            <a:r>
              <a:rPr lang="en-US" dirty="0"/>
              <a:t> Pass near </a:t>
            </a:r>
            <a:r>
              <a:rPr lang="en-US" dirty="0" err="1"/>
              <a:t>Tawang</a:t>
            </a:r>
            <a:r>
              <a:rPr lang="en-US" dirty="0"/>
              <a:t> in Arunachal Pradesh.</a:t>
            </a:r>
            <a:endParaRPr dirty="0"/>
          </a:p>
        </p:txBody>
      </p:sp>
      <p:sp>
        <p:nvSpPr>
          <p:cNvPr id="422" name="Google Shape;422;p59"/>
          <p:cNvSpPr txBox="1">
            <a:spLocks noGrp="1"/>
          </p:cNvSpPr>
          <p:nvPr>
            <p:ph type="title"/>
          </p:nvPr>
        </p:nvSpPr>
        <p:spPr>
          <a:xfrm>
            <a:off x="1430351" y="616677"/>
            <a:ext cx="3526331" cy="12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</a:t>
            </a:r>
            <a:r>
              <a:rPr lang="en-US" dirty="0"/>
              <a:t> </a:t>
            </a:r>
            <a:r>
              <a:rPr lang="en-US" dirty="0" smtClean="0"/>
              <a:t>Blizzard</a:t>
            </a:r>
            <a:endParaRPr dirty="0"/>
          </a:p>
        </p:txBody>
      </p:sp>
      <p:sp>
        <p:nvSpPr>
          <p:cNvPr id="424" name="Google Shape;424;p59"/>
          <p:cNvSpPr/>
          <p:nvPr/>
        </p:nvSpPr>
        <p:spPr>
          <a:xfrm rot="-391042">
            <a:off x="505205" y="821748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5" name="Google Shape;425;p59"/>
          <p:cNvSpPr/>
          <p:nvPr/>
        </p:nvSpPr>
        <p:spPr>
          <a:xfrm rot="-391042">
            <a:off x="3327315" y="3901507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26" name="Google Shape;42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40092">
            <a:off x="3588562" y="3840645"/>
            <a:ext cx="723025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1;p59"/>
          <p:cNvSpPr txBox="1">
            <a:spLocks/>
          </p:cNvSpPr>
          <p:nvPr/>
        </p:nvSpPr>
        <p:spPr>
          <a:xfrm>
            <a:off x="471931" y="2094058"/>
            <a:ext cx="3845654" cy="13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buNone/>
            </a:pPr>
            <a:r>
              <a:rPr lang="en-US" dirty="0"/>
              <a:t>The 2008 Afghanistan blizzard, was a fierce blizzard that struck Afghanistan on the 10th of January 2008. Temperatures fell to a low of −30 °C (−22 °F), with up to 180 </a:t>
            </a:r>
            <a:r>
              <a:rPr lang="en-US" dirty="0" err="1"/>
              <a:t>centimetres</a:t>
            </a:r>
            <a:r>
              <a:rPr lang="en-US" dirty="0"/>
              <a:t> (71 in) of snow in the more mountainous regions, killing at least 926 people. It was the third deadliest blizzard in history.[11] The weather also claimed more than 100,000 sheep and goats, and nearly 315,000 cattle died.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25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9"/>
          <p:cNvSpPr txBox="1">
            <a:spLocks noGrp="1"/>
          </p:cNvSpPr>
          <p:nvPr>
            <p:ph type="body" idx="1"/>
          </p:nvPr>
        </p:nvSpPr>
        <p:spPr>
          <a:xfrm>
            <a:off x="4797860" y="1825377"/>
            <a:ext cx="3845654" cy="1358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Some containers, particularly those containing flammable materials such as gasoline, propane, oil and compressed gasses, are designed with relief valves to prevent an </a:t>
            </a:r>
            <a:r>
              <a:rPr lang="en-US" dirty="0" smtClean="0"/>
              <a:t>explosion</a:t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When </a:t>
            </a:r>
            <a:r>
              <a:rPr lang="en-US" dirty="0"/>
              <a:t>a containment system, such as a tank, pipeline or hazardous materials vessel fails, an explosion can happen when two substances mix and have a highly volatile </a:t>
            </a:r>
            <a:r>
              <a:rPr lang="en-US" dirty="0" smtClean="0"/>
              <a:t>reaction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However, since 2013 unsafe storage of ammonium nitrate has been directly tied to three major explosions. That year, a blast at the West Texas Fertilizer Company killed 15 people</a:t>
            </a:r>
            <a:endParaRPr dirty="0"/>
          </a:p>
        </p:txBody>
      </p:sp>
      <p:sp>
        <p:nvSpPr>
          <p:cNvPr id="422" name="Google Shape;422;p59"/>
          <p:cNvSpPr txBox="1">
            <a:spLocks noGrp="1"/>
          </p:cNvSpPr>
          <p:nvPr>
            <p:ph type="title"/>
          </p:nvPr>
        </p:nvSpPr>
        <p:spPr>
          <a:xfrm>
            <a:off x="791254" y="616677"/>
            <a:ext cx="3526331" cy="12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Artificial disaster</a:t>
            </a:r>
            <a:endParaRPr dirty="0"/>
          </a:p>
        </p:txBody>
      </p:sp>
      <p:sp>
        <p:nvSpPr>
          <p:cNvPr id="424" name="Google Shape;424;p59"/>
          <p:cNvSpPr/>
          <p:nvPr/>
        </p:nvSpPr>
        <p:spPr>
          <a:xfrm rot="-391042">
            <a:off x="505205" y="821748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5" name="Google Shape;425;p59"/>
          <p:cNvSpPr/>
          <p:nvPr/>
        </p:nvSpPr>
        <p:spPr>
          <a:xfrm rot="-391042">
            <a:off x="3327315" y="3901507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26" name="Google Shape;42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40092">
            <a:off x="3588562" y="3840645"/>
            <a:ext cx="723025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1;p59"/>
          <p:cNvSpPr txBox="1">
            <a:spLocks/>
          </p:cNvSpPr>
          <p:nvPr/>
        </p:nvSpPr>
        <p:spPr>
          <a:xfrm>
            <a:off x="471931" y="2094058"/>
            <a:ext cx="3845654" cy="13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buNone/>
            </a:pPr>
            <a:r>
              <a:rPr lang="en-US" dirty="0" smtClean="0"/>
              <a:t>Explosions: Although an explosion </a:t>
            </a:r>
            <a:r>
              <a:rPr lang="en-US" dirty="0" smtClean="0"/>
              <a:t>can have many causes, most are fires, containment </a:t>
            </a:r>
            <a:r>
              <a:rPr lang="en-US" dirty="0" smtClean="0"/>
              <a:t>system failures, and intentional explosions, including demolition and terrorism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/>
              <a:t>A fire causes an explosion by the transfer of heat. The fire’s radiant heat causes a substance to expand and increases surrounding pressure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4"/>
          <p:cNvSpPr txBox="1">
            <a:spLocks noGrp="1"/>
          </p:cNvSpPr>
          <p:nvPr>
            <p:ph type="title"/>
          </p:nvPr>
        </p:nvSpPr>
        <p:spPr>
          <a:xfrm>
            <a:off x="3392629" y="538252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 smtClean="0"/>
              <a:t>Threat</a:t>
            </a:r>
            <a:endParaRPr sz="2100" dirty="0"/>
          </a:p>
        </p:txBody>
      </p:sp>
      <p:sp>
        <p:nvSpPr>
          <p:cNvPr id="531" name="Google Shape;531;p64"/>
          <p:cNvSpPr txBox="1">
            <a:spLocks noGrp="1"/>
          </p:cNvSpPr>
          <p:nvPr>
            <p:ph type="subTitle" idx="1"/>
          </p:nvPr>
        </p:nvSpPr>
        <p:spPr>
          <a:xfrm>
            <a:off x="3628588" y="936294"/>
            <a:ext cx="2526405" cy="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Heat waves pose serious threats to health, agriculture, energy, and infrastructure. More than 6,500 have died from heat in India since 2010; at least 138 deaths and more than 70,000 people required hospitalizations for heat-stroke in Japan in 2018. </a:t>
            </a:r>
            <a:endParaRPr dirty="0"/>
          </a:p>
        </p:txBody>
      </p:sp>
      <p:sp>
        <p:nvSpPr>
          <p:cNvPr id="532" name="Google Shape;532;p64"/>
          <p:cNvSpPr txBox="1">
            <a:spLocks noGrp="1"/>
          </p:cNvSpPr>
          <p:nvPr>
            <p:ph type="title" idx="2"/>
          </p:nvPr>
        </p:nvSpPr>
        <p:spPr>
          <a:xfrm>
            <a:off x="1059529" y="527963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 smtClean="0"/>
              <a:t>Occur</a:t>
            </a:r>
            <a:r>
              <a:rPr lang="en-IN" sz="2100" dirty="0" smtClean="0"/>
              <a:t>r</a:t>
            </a:r>
            <a:r>
              <a:rPr lang="en" sz="2100" dirty="0" smtClean="0"/>
              <a:t>ence </a:t>
            </a:r>
            <a:endParaRPr sz="2100" dirty="0"/>
          </a:p>
        </p:txBody>
      </p:sp>
      <p:sp>
        <p:nvSpPr>
          <p:cNvPr id="533" name="Google Shape;533;p64"/>
          <p:cNvSpPr txBox="1">
            <a:spLocks noGrp="1"/>
          </p:cNvSpPr>
          <p:nvPr>
            <p:ph type="subTitle" idx="3"/>
          </p:nvPr>
        </p:nvSpPr>
        <p:spPr>
          <a:xfrm>
            <a:off x="1295489" y="1036940"/>
            <a:ext cx="2333100" cy="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 heat wave occurs when there is high pressure in the atmosphere that forces hot air downward and traps it near the ground. This high-pressure system acts like a lock that prevents the hot air from rising. Consequently, rain cannot form and the hot air gets hotter. 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534" name="Google Shape;534;p64"/>
          <p:cNvSpPr txBox="1">
            <a:spLocks noGrp="1"/>
          </p:cNvSpPr>
          <p:nvPr>
            <p:ph type="title" idx="4"/>
          </p:nvPr>
        </p:nvSpPr>
        <p:spPr>
          <a:xfrm>
            <a:off x="5964918" y="2130948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 smtClean="0"/>
              <a:t> </a:t>
            </a:r>
            <a:br>
              <a:rPr lang="en-US" sz="2100" dirty="0" smtClean="0"/>
            </a:br>
            <a:endParaRPr sz="2100" dirty="0"/>
          </a:p>
        </p:txBody>
      </p:sp>
      <p:sp>
        <p:nvSpPr>
          <p:cNvPr id="535" name="Google Shape;535;p64"/>
          <p:cNvSpPr txBox="1">
            <a:spLocks noGrp="1"/>
          </p:cNvSpPr>
          <p:nvPr>
            <p:ph type="subTitle" idx="5"/>
          </p:nvPr>
        </p:nvSpPr>
        <p:spPr>
          <a:xfrm>
            <a:off x="6250061" y="1297248"/>
            <a:ext cx="2333100" cy="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smtClean="0"/>
              <a:t>The </a:t>
            </a:r>
            <a:r>
              <a:rPr lang="en-US" dirty="0"/>
              <a:t>People’s Republic of China is experiencing scorching heat this year, with many reported deaths from heat-stroke</a:t>
            </a:r>
            <a:endParaRPr dirty="0"/>
          </a:p>
        </p:txBody>
      </p:sp>
      <p:sp>
        <p:nvSpPr>
          <p:cNvPr id="536" name="Google Shape;536;p64"/>
          <p:cNvSpPr txBox="1">
            <a:spLocks noGrp="1"/>
          </p:cNvSpPr>
          <p:nvPr>
            <p:ph type="title" idx="6"/>
          </p:nvPr>
        </p:nvSpPr>
        <p:spPr>
          <a:xfrm>
            <a:off x="2602157" y="527963"/>
            <a:ext cx="400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  <a:br>
              <a:rPr lang="en-US" dirty="0" smtClean="0"/>
            </a:br>
            <a:endParaRPr dirty="0"/>
          </a:p>
        </p:txBody>
      </p:sp>
      <p:pic>
        <p:nvPicPr>
          <p:cNvPr id="545" name="Google Shape;54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11150" y="3560300"/>
            <a:ext cx="2015919" cy="10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8"/>
          <p:cNvSpPr txBox="1">
            <a:spLocks noGrp="1"/>
          </p:cNvSpPr>
          <p:nvPr>
            <p:ph type="title" idx="4"/>
          </p:nvPr>
        </p:nvSpPr>
        <p:spPr>
          <a:xfrm>
            <a:off x="820652" y="1563742"/>
            <a:ext cx="3520514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6000" dirty="0"/>
              <a:t>C</a:t>
            </a:r>
            <a:r>
              <a:rPr lang="en-IN" sz="6000" dirty="0" smtClean="0"/>
              <a:t>ollapsed </a:t>
            </a:r>
            <a:r>
              <a:rPr lang="en-IN" sz="6000" dirty="0"/>
              <a:t>structure</a:t>
            </a:r>
            <a:endParaRPr sz="6000" dirty="0"/>
          </a:p>
        </p:txBody>
      </p:sp>
      <p:sp>
        <p:nvSpPr>
          <p:cNvPr id="613" name="Google Shape;613;p68"/>
          <p:cNvSpPr txBox="1">
            <a:spLocks noGrp="1"/>
          </p:cNvSpPr>
          <p:nvPr>
            <p:ph type="body" idx="4294967295"/>
          </p:nvPr>
        </p:nvSpPr>
        <p:spPr>
          <a:xfrm rot="390862">
            <a:off x="1287212" y="3021505"/>
            <a:ext cx="1658573" cy="11314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 </a:t>
            </a:r>
          </a:p>
          <a:p>
            <a:pPr marL="0" lvl="0" indent="0">
              <a:spcAft>
                <a:spcPts val="1600"/>
              </a:spcAft>
              <a:buNone/>
            </a:pP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614" name="Google Shape;614;p68"/>
          <p:cNvSpPr/>
          <p:nvPr/>
        </p:nvSpPr>
        <p:spPr>
          <a:xfrm rot="9415449">
            <a:off x="2152400" y="4184257"/>
            <a:ext cx="857018" cy="505063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5" name="Google Shape;615;p68"/>
          <p:cNvSpPr txBox="1">
            <a:spLocks noGrp="1"/>
          </p:cNvSpPr>
          <p:nvPr>
            <p:ph type="title"/>
          </p:nvPr>
        </p:nvSpPr>
        <p:spPr>
          <a:xfrm>
            <a:off x="6166050" y="118321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  <a:br>
              <a:rPr lang="en-US" dirty="0" smtClean="0"/>
            </a:br>
            <a:endParaRPr dirty="0"/>
          </a:p>
        </p:txBody>
      </p:sp>
      <p:sp>
        <p:nvSpPr>
          <p:cNvPr id="616" name="Google Shape;616;p68"/>
          <p:cNvSpPr txBox="1">
            <a:spLocks noGrp="1"/>
          </p:cNvSpPr>
          <p:nvPr>
            <p:ph type="subTitle" idx="1"/>
          </p:nvPr>
        </p:nvSpPr>
        <p:spPr>
          <a:xfrm>
            <a:off x="4807964" y="1197741"/>
            <a:ext cx="3498276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When internal load bearing structural elements fail, a building will collapse into itself and exterior walls are pulled into the falling structure. This scenario may be caused by construction activity, an earthquake, or fire, and may result in a dense debris field with a small footprint</a:t>
            </a:r>
            <a:endParaRPr dirty="0"/>
          </a:p>
        </p:txBody>
      </p:sp>
      <p:sp>
        <p:nvSpPr>
          <p:cNvPr id="617" name="Google Shape;617;p68"/>
          <p:cNvSpPr txBox="1">
            <a:spLocks noGrp="1"/>
          </p:cNvSpPr>
          <p:nvPr>
            <p:ph type="title" idx="2"/>
          </p:nvPr>
        </p:nvSpPr>
        <p:spPr>
          <a:xfrm>
            <a:off x="6166040" y="2678335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  <a:endParaRPr dirty="0"/>
          </a:p>
        </p:txBody>
      </p:sp>
      <p:sp>
        <p:nvSpPr>
          <p:cNvPr id="618" name="Google Shape;618;p68"/>
          <p:cNvSpPr txBox="1">
            <a:spLocks noGrp="1"/>
          </p:cNvSpPr>
          <p:nvPr>
            <p:ph type="subTitle" idx="3"/>
          </p:nvPr>
        </p:nvSpPr>
        <p:spPr>
          <a:xfrm>
            <a:off x="6166050" y="3115508"/>
            <a:ext cx="21402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1"/>
          <p:cNvSpPr txBox="1">
            <a:spLocks noGrp="1"/>
          </p:cNvSpPr>
          <p:nvPr>
            <p:ph type="title"/>
          </p:nvPr>
        </p:nvSpPr>
        <p:spPr>
          <a:xfrm>
            <a:off x="5040600" y="1012388"/>
            <a:ext cx="28260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  <a:br>
              <a:rPr lang="en-US" dirty="0" smtClean="0"/>
            </a:br>
            <a:endParaRPr dirty="0"/>
          </a:p>
        </p:txBody>
      </p:sp>
      <p:sp>
        <p:nvSpPr>
          <p:cNvPr id="662" name="Google Shape;662;p71"/>
          <p:cNvSpPr txBox="1">
            <a:spLocks noGrp="1"/>
          </p:cNvSpPr>
          <p:nvPr>
            <p:ph type="body" idx="1"/>
          </p:nvPr>
        </p:nvSpPr>
        <p:spPr>
          <a:xfrm>
            <a:off x="5040600" y="402073"/>
            <a:ext cx="3363045" cy="10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Five reasons why buildings </a:t>
            </a:r>
            <a:r>
              <a:rPr lang="en-US" dirty="0" smtClean="0"/>
              <a:t>collapse</a:t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The </a:t>
            </a:r>
            <a:r>
              <a:rPr lang="en-US" dirty="0"/>
              <a:t>foundations are too weak. The building materials aren't strong enough.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Workers </a:t>
            </a:r>
            <a:r>
              <a:rPr lang="en-US" dirty="0"/>
              <a:t>make mistakes. The load is heavier than expected.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</a:t>
            </a:r>
            <a:r>
              <a:rPr lang="en-US" dirty="0"/>
              <a:t>strength isn't </a:t>
            </a:r>
            <a:r>
              <a:rPr lang="en-US" dirty="0" smtClean="0"/>
              <a:t>tested</a:t>
            </a:r>
            <a:br>
              <a:rPr lang="en-US" dirty="0" smtClean="0"/>
            </a:br>
            <a:r>
              <a:rPr lang="en-US" dirty="0"/>
              <a:t>T</a:t>
            </a:r>
            <a:r>
              <a:rPr lang="en-US" dirty="0" smtClean="0"/>
              <a:t>hese </a:t>
            </a:r>
            <a:r>
              <a:rPr lang="en-US" dirty="0"/>
              <a:t>are caused due to faults in design and construction.</a:t>
            </a:r>
            <a:endParaRPr dirty="0"/>
          </a:p>
        </p:txBody>
      </p:sp>
      <p:pic>
        <p:nvPicPr>
          <p:cNvPr id="663" name="Google Shape;663;p71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125" y="1580725"/>
            <a:ext cx="3006900" cy="2696307"/>
          </a:xfrm>
          <a:prstGeom prst="ellipse">
            <a:avLst/>
          </a:prstGeom>
          <a:noFill/>
          <a:ln>
            <a:noFill/>
          </a:ln>
          <a:effectLst>
            <a:outerShdw blurRad="57150" dist="47625" dir="5460000" algn="bl" rotWithShape="0">
              <a:srgbClr val="000000">
                <a:alpha val="46000"/>
              </a:srgbClr>
            </a:outerShdw>
          </a:effectLst>
        </p:spPr>
      </p:pic>
      <p:sp>
        <p:nvSpPr>
          <p:cNvPr id="664" name="Google Shape;664;p71"/>
          <p:cNvSpPr/>
          <p:nvPr/>
        </p:nvSpPr>
        <p:spPr>
          <a:xfrm rot="1469212">
            <a:off x="1955781" y="1370167"/>
            <a:ext cx="1253589" cy="738773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5" name="Google Shape;665;p71"/>
          <p:cNvSpPr txBox="1">
            <a:spLocks noGrp="1"/>
          </p:cNvSpPr>
          <p:nvPr>
            <p:ph type="subTitle" idx="2"/>
          </p:nvPr>
        </p:nvSpPr>
        <p:spPr>
          <a:xfrm>
            <a:off x="4973225" y="2278000"/>
            <a:ext cx="30069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666" name="Google Shape;666;p71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-7627491" flipH="1">
            <a:off x="3222299" y="916264"/>
            <a:ext cx="1423234" cy="645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0"/>
          <p:cNvSpPr txBox="1">
            <a:spLocks noGrp="1"/>
          </p:cNvSpPr>
          <p:nvPr>
            <p:ph type="title"/>
          </p:nvPr>
        </p:nvSpPr>
        <p:spPr>
          <a:xfrm>
            <a:off x="2648952" y="1679167"/>
            <a:ext cx="40017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432</a:t>
            </a:r>
            <a:endParaRPr dirty="0"/>
          </a:p>
        </p:txBody>
      </p:sp>
      <p:sp>
        <p:nvSpPr>
          <p:cNvPr id="654" name="Google Shape;654;p70"/>
          <p:cNvSpPr txBox="1">
            <a:spLocks noGrp="1"/>
          </p:cNvSpPr>
          <p:nvPr>
            <p:ph type="body" idx="1"/>
          </p:nvPr>
        </p:nvSpPr>
        <p:spPr>
          <a:xfrm>
            <a:off x="2838275" y="2959147"/>
            <a:ext cx="3812377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dirty="0"/>
              <a:t>In 2021, the Emergency Event Database (EM-DAT) recorded </a:t>
            </a:r>
            <a:r>
              <a:rPr lang="en-US" b="1" dirty="0"/>
              <a:t>432</a:t>
            </a:r>
            <a:r>
              <a:rPr lang="en-US" dirty="0"/>
              <a:t> disastrous events related to natural hazards worldwide.</a:t>
            </a:r>
            <a:endParaRPr dirty="0"/>
          </a:p>
        </p:txBody>
      </p:sp>
      <p:pic>
        <p:nvPicPr>
          <p:cNvPr id="655" name="Google Shape;655;p70"/>
          <p:cNvPicPr preferRelativeResize="0"/>
          <p:nvPr/>
        </p:nvPicPr>
        <p:blipFill rotWithShape="1">
          <a:blip r:embed="rId3">
            <a:alphaModFix amt="78000"/>
          </a:blip>
          <a:srcRect l="19967"/>
          <a:stretch/>
        </p:blipFill>
        <p:spPr>
          <a:xfrm rot="3044709">
            <a:off x="2397403" y="714063"/>
            <a:ext cx="1470368" cy="75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8050" y="2592985"/>
            <a:ext cx="2610150" cy="3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1"/>
          <p:cNvSpPr txBox="1">
            <a:spLocks noGrp="1"/>
          </p:cNvSpPr>
          <p:nvPr>
            <p:ph type="title"/>
          </p:nvPr>
        </p:nvSpPr>
        <p:spPr>
          <a:xfrm>
            <a:off x="5040600" y="1012388"/>
            <a:ext cx="28260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  <a:br>
              <a:rPr lang="en-US" dirty="0" smtClean="0"/>
            </a:br>
            <a:endParaRPr dirty="0"/>
          </a:p>
        </p:txBody>
      </p:sp>
      <p:sp>
        <p:nvSpPr>
          <p:cNvPr id="662" name="Google Shape;662;p71"/>
          <p:cNvSpPr txBox="1">
            <a:spLocks noGrp="1"/>
          </p:cNvSpPr>
          <p:nvPr>
            <p:ph type="body" idx="1"/>
          </p:nvPr>
        </p:nvSpPr>
        <p:spPr>
          <a:xfrm>
            <a:off x="5138923" y="883776"/>
            <a:ext cx="3363045" cy="10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600" dirty="0"/>
              <a:t>Man-made disasters are usually the result of things going wrong in our society. They include: blackouts, hazardous material spills, air pollution, house fires, radiation leaks, food or water contamination, and industrial chemical releases. In the best case, they simply rob us of our modern luxuries for a brief time</a:t>
            </a:r>
            <a:endParaRPr sz="1600" dirty="0"/>
          </a:p>
        </p:txBody>
      </p:sp>
      <p:pic>
        <p:nvPicPr>
          <p:cNvPr id="663" name="Google Shape;663;p71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126" y="1580725"/>
            <a:ext cx="2488898" cy="2696307"/>
          </a:xfrm>
          <a:prstGeom prst="ellipse">
            <a:avLst/>
          </a:prstGeom>
          <a:noFill/>
          <a:ln>
            <a:noFill/>
          </a:ln>
          <a:effectLst>
            <a:outerShdw blurRad="57150" dist="47625" dir="5460000" algn="bl" rotWithShape="0">
              <a:srgbClr val="000000">
                <a:alpha val="46000"/>
              </a:srgbClr>
            </a:outerShdw>
          </a:effectLst>
        </p:spPr>
      </p:pic>
      <p:sp>
        <p:nvSpPr>
          <p:cNvPr id="664" name="Google Shape;664;p71"/>
          <p:cNvSpPr/>
          <p:nvPr/>
        </p:nvSpPr>
        <p:spPr>
          <a:xfrm rot="1469212">
            <a:off x="1955781" y="1370167"/>
            <a:ext cx="1253589" cy="738773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5" name="Google Shape;665;p71"/>
          <p:cNvSpPr txBox="1">
            <a:spLocks noGrp="1"/>
          </p:cNvSpPr>
          <p:nvPr>
            <p:ph type="subTitle" idx="2"/>
          </p:nvPr>
        </p:nvSpPr>
        <p:spPr>
          <a:xfrm>
            <a:off x="4973225" y="2278000"/>
            <a:ext cx="30069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666" name="Google Shape;666;p71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-7627491" flipH="1">
            <a:off x="3222299" y="916264"/>
            <a:ext cx="1423234" cy="6455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377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9"/>
          <p:cNvSpPr txBox="1">
            <a:spLocks noGrp="1"/>
          </p:cNvSpPr>
          <p:nvPr>
            <p:ph type="body" idx="1"/>
          </p:nvPr>
        </p:nvSpPr>
        <p:spPr>
          <a:xfrm>
            <a:off x="4797860" y="1825377"/>
            <a:ext cx="3845654" cy="1358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These disasters result in disruption through damage to property, physical injury and death, psychological distress, displacement of individuals and families, and prolonged disruption to a broad range of services upon which communities rely</a:t>
            </a:r>
            <a:endParaRPr dirty="0"/>
          </a:p>
        </p:txBody>
      </p:sp>
      <p:sp>
        <p:nvSpPr>
          <p:cNvPr id="422" name="Google Shape;422;p59"/>
          <p:cNvSpPr txBox="1">
            <a:spLocks noGrp="1"/>
          </p:cNvSpPr>
          <p:nvPr>
            <p:ph type="title"/>
          </p:nvPr>
        </p:nvSpPr>
        <p:spPr>
          <a:xfrm>
            <a:off x="1145215" y="496569"/>
            <a:ext cx="3526331" cy="12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</a:t>
            </a:r>
            <a:r>
              <a:rPr lang="en-US" dirty="0"/>
              <a:t> </a:t>
            </a:r>
            <a:r>
              <a:rPr lang="en-US" dirty="0" smtClean="0"/>
              <a:t>Disadvantages of </a:t>
            </a:r>
            <a:br>
              <a:rPr lang="en-US" dirty="0" smtClean="0"/>
            </a:br>
            <a:r>
              <a:rPr lang="en-US" dirty="0" smtClean="0"/>
              <a:t>natural disasters</a:t>
            </a:r>
            <a:br>
              <a:rPr lang="en-US" dirty="0" smtClean="0"/>
            </a:br>
            <a:endParaRPr dirty="0"/>
          </a:p>
        </p:txBody>
      </p:sp>
      <p:sp>
        <p:nvSpPr>
          <p:cNvPr id="424" name="Google Shape;424;p59"/>
          <p:cNvSpPr/>
          <p:nvPr/>
        </p:nvSpPr>
        <p:spPr>
          <a:xfrm rot="-391042">
            <a:off x="505205" y="821748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5" name="Google Shape;425;p59"/>
          <p:cNvSpPr/>
          <p:nvPr/>
        </p:nvSpPr>
        <p:spPr>
          <a:xfrm rot="-391042">
            <a:off x="3327315" y="3901507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26" name="Google Shape;42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40092">
            <a:off x="3588562" y="3840645"/>
            <a:ext cx="723025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1;p59"/>
          <p:cNvSpPr txBox="1">
            <a:spLocks/>
          </p:cNvSpPr>
          <p:nvPr/>
        </p:nvSpPr>
        <p:spPr>
          <a:xfrm>
            <a:off x="471931" y="2113722"/>
            <a:ext cx="3845654" cy="13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buNone/>
            </a:pPr>
            <a:r>
              <a:rPr lang="en-US"/>
              <a:t>In a disaster, </a:t>
            </a:r>
            <a:r>
              <a:rPr lang="en-US" b="1"/>
              <a:t>you face the danger of death or physical injury</a:t>
            </a:r>
            <a:r>
              <a:rPr lang="en-US"/>
              <a:t>. You may also lose your home, possessions, and community. Such stressors place you at risk for emotional and physical health problems. Stress reactions after a disaster look very much like the common reactions seen after any type of trauma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91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9"/>
          <p:cNvSpPr txBox="1">
            <a:spLocks noGrp="1"/>
          </p:cNvSpPr>
          <p:nvPr>
            <p:ph type="body" idx="1"/>
          </p:nvPr>
        </p:nvSpPr>
        <p:spPr>
          <a:xfrm>
            <a:off x="4797860" y="1825377"/>
            <a:ext cx="3845654" cy="1358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Emergency managers think of disasters as recurring events with four phases: </a:t>
            </a:r>
            <a:r>
              <a:rPr lang="en-US" b="1" dirty="0"/>
              <a:t>Mitigation, Preparedness, Response, and Recovery</a:t>
            </a:r>
            <a:r>
              <a:rPr lang="en-US" dirty="0"/>
              <a:t>. The following diagram illustrates the relationship of the four phases of emergency management.</a:t>
            </a:r>
            <a:endParaRPr dirty="0"/>
          </a:p>
        </p:txBody>
      </p:sp>
      <p:sp>
        <p:nvSpPr>
          <p:cNvPr id="422" name="Google Shape;422;p59"/>
          <p:cNvSpPr txBox="1">
            <a:spLocks noGrp="1"/>
          </p:cNvSpPr>
          <p:nvPr>
            <p:ph type="title"/>
          </p:nvPr>
        </p:nvSpPr>
        <p:spPr>
          <a:xfrm>
            <a:off x="1031391" y="611800"/>
            <a:ext cx="3526331" cy="12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Disaster management</a:t>
            </a:r>
            <a:endParaRPr dirty="0"/>
          </a:p>
        </p:txBody>
      </p:sp>
      <p:sp>
        <p:nvSpPr>
          <p:cNvPr id="424" name="Google Shape;424;p59"/>
          <p:cNvSpPr/>
          <p:nvPr/>
        </p:nvSpPr>
        <p:spPr>
          <a:xfrm rot="-391042">
            <a:off x="505205" y="556970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5" name="Google Shape;425;p59"/>
          <p:cNvSpPr/>
          <p:nvPr/>
        </p:nvSpPr>
        <p:spPr>
          <a:xfrm rot="-391042">
            <a:off x="3327315" y="3901507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26" name="Google Shape;42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40092">
            <a:off x="3588562" y="3840645"/>
            <a:ext cx="723025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1;p59"/>
          <p:cNvSpPr txBox="1">
            <a:spLocks/>
          </p:cNvSpPr>
          <p:nvPr/>
        </p:nvSpPr>
        <p:spPr>
          <a:xfrm>
            <a:off x="471931" y="2113722"/>
            <a:ext cx="3845654" cy="13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buNone/>
            </a:pPr>
            <a:r>
              <a:rPr lang="en-US" dirty="0"/>
              <a:t>Disaster management is </a:t>
            </a:r>
            <a:r>
              <a:rPr lang="en-US" b="1" dirty="0"/>
              <a:t>how we deal with the human, material, economic or environmental impacts of said disaster</a:t>
            </a:r>
            <a:r>
              <a:rPr lang="en-US" dirty="0"/>
              <a:t>, it is the process of how we “prepare for, respond to and learn from the effects of major failures”. Though often caused by nature, disasters can have human origins.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18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9"/>
          <p:cNvSpPr txBox="1">
            <a:spLocks noGrp="1"/>
          </p:cNvSpPr>
          <p:nvPr>
            <p:ph type="body" idx="1"/>
          </p:nvPr>
        </p:nvSpPr>
        <p:spPr>
          <a:xfrm>
            <a:off x="4797860" y="1825377"/>
            <a:ext cx="3845654" cy="1358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A disaster prevention plan is a written, approved, implemented, and periodically tested program specifically outlining all actions to be taken to reduce the risk of avoidable disaster and minimize the loss should a disaster occur.</a:t>
            </a:r>
            <a:endParaRPr dirty="0"/>
          </a:p>
        </p:txBody>
      </p:sp>
      <p:sp>
        <p:nvSpPr>
          <p:cNvPr id="422" name="Google Shape;422;p59"/>
          <p:cNvSpPr txBox="1">
            <a:spLocks noGrp="1"/>
          </p:cNvSpPr>
          <p:nvPr>
            <p:ph type="title"/>
          </p:nvPr>
        </p:nvSpPr>
        <p:spPr>
          <a:xfrm>
            <a:off x="1031391" y="611800"/>
            <a:ext cx="3526331" cy="12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Types of Disaster management</a:t>
            </a:r>
            <a:endParaRPr dirty="0"/>
          </a:p>
        </p:txBody>
      </p:sp>
      <p:sp>
        <p:nvSpPr>
          <p:cNvPr id="424" name="Google Shape;424;p59"/>
          <p:cNvSpPr/>
          <p:nvPr/>
        </p:nvSpPr>
        <p:spPr>
          <a:xfrm rot="-391042">
            <a:off x="505205" y="556970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5" name="Google Shape;425;p59"/>
          <p:cNvSpPr/>
          <p:nvPr/>
        </p:nvSpPr>
        <p:spPr>
          <a:xfrm rot="-391042">
            <a:off x="3327315" y="3901507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26" name="Google Shape;42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40092">
            <a:off x="3588562" y="3840645"/>
            <a:ext cx="723025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1;p59"/>
          <p:cNvSpPr txBox="1">
            <a:spLocks/>
          </p:cNvSpPr>
          <p:nvPr/>
        </p:nvSpPr>
        <p:spPr>
          <a:xfrm>
            <a:off x="471931" y="2113722"/>
            <a:ext cx="3845654" cy="13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r>
              <a:rPr lang="en-US" dirty="0" smtClean="0"/>
              <a:t>1 </a:t>
            </a:r>
            <a:r>
              <a:rPr lang="en-US" dirty="0"/>
              <a:t>Disaster Prevention.</a:t>
            </a:r>
          </a:p>
          <a:p>
            <a:r>
              <a:rPr lang="en-US" dirty="0" smtClean="0"/>
              <a:t>2 </a:t>
            </a:r>
            <a:r>
              <a:rPr lang="en-US" dirty="0"/>
              <a:t>Disaster Preparedness.</a:t>
            </a:r>
          </a:p>
          <a:p>
            <a:r>
              <a:rPr lang="en-US" dirty="0" smtClean="0"/>
              <a:t>3 </a:t>
            </a:r>
            <a:r>
              <a:rPr lang="en-US" dirty="0"/>
              <a:t>Disaster Response / Relief.</a:t>
            </a:r>
          </a:p>
          <a:p>
            <a:r>
              <a:rPr lang="en-US" dirty="0" smtClean="0"/>
              <a:t>4 </a:t>
            </a:r>
            <a:r>
              <a:rPr lang="en-US" dirty="0"/>
              <a:t>Disaster Recovery.</a:t>
            </a:r>
          </a:p>
        </p:txBody>
      </p:sp>
    </p:spTree>
    <p:extLst>
      <p:ext uri="{BB962C8B-B14F-4D97-AF65-F5344CB8AC3E}">
        <p14:creationId xmlns:p14="http://schemas.microsoft.com/office/powerpoint/2010/main" val="37758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9"/>
          <p:cNvSpPr txBox="1">
            <a:spLocks noGrp="1"/>
          </p:cNvSpPr>
          <p:nvPr>
            <p:ph type="body" idx="1"/>
          </p:nvPr>
        </p:nvSpPr>
        <p:spPr>
          <a:xfrm>
            <a:off x="4678157" y="2257997"/>
            <a:ext cx="3845654" cy="1358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Disaster preparedness consists of a set of measures undertaken in advance by governments, </a:t>
            </a:r>
            <a:r>
              <a:rPr lang="en-US" dirty="0" err="1"/>
              <a:t>organisations</a:t>
            </a:r>
            <a:r>
              <a:rPr lang="en-US" dirty="0"/>
              <a:t>, communities, or individuals to better respond and cope with the immediate aftermath of a disaster, whether it be human-induced or caused by natural hazards</a:t>
            </a:r>
            <a:endParaRPr dirty="0"/>
          </a:p>
        </p:txBody>
      </p:sp>
      <p:sp>
        <p:nvSpPr>
          <p:cNvPr id="422" name="Google Shape;422;p59"/>
          <p:cNvSpPr txBox="1">
            <a:spLocks noGrp="1"/>
          </p:cNvSpPr>
          <p:nvPr>
            <p:ph type="title"/>
          </p:nvPr>
        </p:nvSpPr>
        <p:spPr>
          <a:xfrm>
            <a:off x="5117183" y="432697"/>
            <a:ext cx="3526331" cy="12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Disaster Preparedness</a:t>
            </a:r>
            <a:endParaRPr dirty="0"/>
          </a:p>
        </p:txBody>
      </p:sp>
      <p:sp>
        <p:nvSpPr>
          <p:cNvPr id="424" name="Google Shape;424;p59"/>
          <p:cNvSpPr/>
          <p:nvPr/>
        </p:nvSpPr>
        <p:spPr>
          <a:xfrm rot="-391042">
            <a:off x="505205" y="556970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5" name="Google Shape;425;p59"/>
          <p:cNvSpPr/>
          <p:nvPr/>
        </p:nvSpPr>
        <p:spPr>
          <a:xfrm rot="-391042">
            <a:off x="3327315" y="3901507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26" name="Google Shape;42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40092">
            <a:off x="3588562" y="3840645"/>
            <a:ext cx="723025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1;p59"/>
          <p:cNvSpPr txBox="1">
            <a:spLocks/>
          </p:cNvSpPr>
          <p:nvPr/>
        </p:nvSpPr>
        <p:spPr>
          <a:xfrm>
            <a:off x="471931" y="1825377"/>
            <a:ext cx="3845654" cy="13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39700" indent="0">
              <a:buNone/>
            </a:pPr>
            <a:r>
              <a:rPr lang="en-US" dirty="0"/>
              <a:t>So the first step to preventing potential natural disasters is </a:t>
            </a:r>
            <a:r>
              <a:rPr lang="en-US" b="1" dirty="0"/>
              <a:t>reducing pollutant emissions</a:t>
            </a:r>
            <a:r>
              <a:rPr lang="en-US" dirty="0"/>
              <a:t>. It is also necessary to make states more resilient by looking forwards and preparing countries to deal with climate-related risks, from adopting conservation and restoration measures to improving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424626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9"/>
          <p:cNvSpPr txBox="1">
            <a:spLocks noGrp="1"/>
          </p:cNvSpPr>
          <p:nvPr>
            <p:ph type="body" idx="1"/>
          </p:nvPr>
        </p:nvSpPr>
        <p:spPr>
          <a:xfrm>
            <a:off x="4678157" y="2257997"/>
            <a:ext cx="3845654" cy="1358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dirty="0" smtClean="0"/>
              <a:t> </a:t>
            </a:r>
          </a:p>
          <a:p>
            <a:pPr marL="0" lvl="0" indent="0">
              <a:buNone/>
            </a:pPr>
            <a:endParaRPr dirty="0"/>
          </a:p>
        </p:txBody>
      </p:sp>
      <p:sp>
        <p:nvSpPr>
          <p:cNvPr id="422" name="Google Shape;422;p59"/>
          <p:cNvSpPr txBox="1">
            <a:spLocks noGrp="1"/>
          </p:cNvSpPr>
          <p:nvPr>
            <p:ph type="title"/>
          </p:nvPr>
        </p:nvSpPr>
        <p:spPr>
          <a:xfrm>
            <a:off x="1361261" y="556623"/>
            <a:ext cx="3526331" cy="12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Disaster Response</a:t>
            </a:r>
            <a:endParaRPr dirty="0"/>
          </a:p>
        </p:txBody>
      </p:sp>
      <p:sp>
        <p:nvSpPr>
          <p:cNvPr id="424" name="Google Shape;424;p59"/>
          <p:cNvSpPr/>
          <p:nvPr/>
        </p:nvSpPr>
        <p:spPr>
          <a:xfrm rot="-391042">
            <a:off x="505205" y="556970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5" name="Google Shape;425;p59"/>
          <p:cNvSpPr/>
          <p:nvPr/>
        </p:nvSpPr>
        <p:spPr>
          <a:xfrm rot="-391042">
            <a:off x="3327315" y="3901507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26" name="Google Shape;42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40092">
            <a:off x="3588562" y="3840645"/>
            <a:ext cx="723025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1;p59"/>
          <p:cNvSpPr txBox="1">
            <a:spLocks/>
          </p:cNvSpPr>
          <p:nvPr/>
        </p:nvSpPr>
        <p:spPr>
          <a:xfrm>
            <a:off x="471931" y="2064031"/>
            <a:ext cx="3845654" cy="13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39700" indent="0">
              <a:buNone/>
            </a:pPr>
            <a:r>
              <a:rPr lang="en-US" sz="1600" dirty="0"/>
              <a:t>Disaster response refers to </a:t>
            </a:r>
            <a:r>
              <a:rPr lang="en-US" sz="1600" b="1" dirty="0"/>
              <a:t>the actions taken directly after a destructive event occurs</a:t>
            </a:r>
            <a:r>
              <a:rPr lang="en-US" sz="1600" dirty="0"/>
              <a:t>. This may include, but is not limited to: Search and rescue efforts. Emergency health care and injury assessment. Food and water management</a:t>
            </a:r>
          </a:p>
        </p:txBody>
      </p:sp>
      <p:pic>
        <p:nvPicPr>
          <p:cNvPr id="1026" name="Picture 2" descr="Buy Disaster Management: Planning, Response and Recovery Book Online at Low  Prices in India | Disaster Management: Planning, Response and Recovery  Reviews &amp; Ratings - Amazon.i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151" y="556623"/>
            <a:ext cx="2757408" cy="39267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1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9"/>
          <p:cNvSpPr txBox="1">
            <a:spLocks noGrp="1"/>
          </p:cNvSpPr>
          <p:nvPr>
            <p:ph type="body" idx="1"/>
          </p:nvPr>
        </p:nvSpPr>
        <p:spPr>
          <a:xfrm>
            <a:off x="4678157" y="2257997"/>
            <a:ext cx="3845654" cy="1358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dirty="0" smtClean="0"/>
              <a:t> </a:t>
            </a:r>
          </a:p>
          <a:p>
            <a:pPr marL="0" lvl="0" indent="0">
              <a:buNone/>
            </a:pPr>
            <a:endParaRPr dirty="0"/>
          </a:p>
        </p:txBody>
      </p:sp>
      <p:sp>
        <p:nvSpPr>
          <p:cNvPr id="422" name="Google Shape;422;p59"/>
          <p:cNvSpPr txBox="1">
            <a:spLocks noGrp="1"/>
          </p:cNvSpPr>
          <p:nvPr>
            <p:ph type="title"/>
          </p:nvPr>
        </p:nvSpPr>
        <p:spPr>
          <a:xfrm>
            <a:off x="1361261" y="556623"/>
            <a:ext cx="3526331" cy="12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Disaster Recovery</a:t>
            </a:r>
            <a:endParaRPr dirty="0"/>
          </a:p>
        </p:txBody>
      </p:sp>
      <p:sp>
        <p:nvSpPr>
          <p:cNvPr id="424" name="Google Shape;424;p59"/>
          <p:cNvSpPr/>
          <p:nvPr/>
        </p:nvSpPr>
        <p:spPr>
          <a:xfrm rot="-391042">
            <a:off x="505205" y="556970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5" name="Google Shape;425;p59"/>
          <p:cNvSpPr/>
          <p:nvPr/>
        </p:nvSpPr>
        <p:spPr>
          <a:xfrm rot="-391042">
            <a:off x="3327315" y="3901507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26" name="Google Shape;42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40092">
            <a:off x="3588562" y="3840645"/>
            <a:ext cx="723025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1;p59"/>
          <p:cNvSpPr txBox="1">
            <a:spLocks/>
          </p:cNvSpPr>
          <p:nvPr/>
        </p:nvSpPr>
        <p:spPr>
          <a:xfrm>
            <a:off x="471931" y="2064031"/>
            <a:ext cx="3845654" cy="13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39700" indent="0">
              <a:buNone/>
            </a:pPr>
            <a:r>
              <a:rPr lang="en-US" sz="1600"/>
              <a:t>Disaster recovery is </a:t>
            </a:r>
            <a:r>
              <a:rPr lang="en-US" sz="1600" b="1"/>
              <a:t>the process by which an organization anticipates and addresses technology-related disasters</a:t>
            </a:r>
            <a:r>
              <a:rPr lang="en-US" sz="1600"/>
              <a:t>. IT systems in any company can go down unexpectedly due to unforeseen circumstances, such as power outages, natural events, or security issues</a:t>
            </a:r>
            <a:endParaRPr lang="en-US" sz="1600" dirty="0"/>
          </a:p>
        </p:txBody>
      </p:sp>
      <p:pic>
        <p:nvPicPr>
          <p:cNvPr id="2050" name="Picture 2" descr="5 Simple Steps to A Successful Disaster Recovery Pla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550" y="1517289"/>
            <a:ext cx="2857500" cy="1905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7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>
              <a:buNone/>
            </a:pPr>
            <a:r>
              <a:rPr lang="en-US" dirty="0" smtClean="0"/>
              <a:t>THARUN KRSHNA.D</a:t>
            </a:r>
            <a:br>
              <a:rPr lang="en-US" dirty="0" smtClean="0"/>
            </a:br>
            <a:r>
              <a:rPr lang="en-US" dirty="0" smtClean="0"/>
              <a:t>VISHAL. SR</a:t>
            </a:r>
            <a:br>
              <a:rPr lang="en-US" dirty="0" smtClean="0"/>
            </a:br>
            <a:r>
              <a:rPr lang="en-US" dirty="0" smtClean="0"/>
              <a:t>PRAVEEN.D</a:t>
            </a:r>
            <a:br>
              <a:rPr lang="en-US" dirty="0" smtClean="0"/>
            </a:br>
            <a:r>
              <a:rPr lang="en-US" dirty="0" smtClean="0"/>
              <a:t>RAYHAAN</a:t>
            </a:r>
            <a:br>
              <a:rPr lang="en-US" dirty="0" smtClean="0"/>
            </a:br>
            <a:r>
              <a:rPr lang="en-US" dirty="0" smtClean="0"/>
              <a:t>AGILAN.S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21200" y="1353590"/>
            <a:ext cx="2901600" cy="572700"/>
          </a:xfrm>
        </p:spPr>
        <p:txBody>
          <a:bodyPr/>
          <a:lstStyle/>
          <a:p>
            <a:r>
              <a:rPr lang="en-US" dirty="0" smtClean="0"/>
              <a:t>DONE</a:t>
            </a:r>
            <a:br>
              <a:rPr lang="en-US" dirty="0" smtClean="0"/>
            </a:br>
            <a:r>
              <a:rPr lang="en-US" dirty="0" smtClean="0"/>
              <a:t>BY</a:t>
            </a:r>
            <a:br>
              <a:rPr lang="en-US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7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>
              <a:buNone/>
            </a:pPr>
            <a:r>
              <a:rPr lang="en-US" dirty="0" smtClean="0"/>
              <a:t> </a:t>
            </a:r>
          </a:p>
          <a:p>
            <a:pPr marL="127000" indent="0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49000" y="1569900"/>
            <a:ext cx="3604065" cy="57270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8800" dirty="0" smtClean="0"/>
              <a:t>THANK </a:t>
            </a:r>
            <a:br>
              <a:rPr lang="en-US" sz="8800" dirty="0" smtClean="0"/>
            </a:br>
            <a:r>
              <a:rPr lang="en-US" sz="8800" dirty="0" smtClean="0"/>
              <a:t> YOU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184135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772</Words>
  <Application>Microsoft Office PowerPoint</Application>
  <PresentationFormat>On-screen Show (16:9)</PresentationFormat>
  <Paragraphs>83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Roboto Mono Medium</vt:lpstr>
      <vt:lpstr>Anonymous Pro</vt:lpstr>
      <vt:lpstr>Coming Soon</vt:lpstr>
      <vt:lpstr>Arial</vt:lpstr>
      <vt:lpstr>Muli</vt:lpstr>
      <vt:lpstr>Concert One</vt:lpstr>
      <vt:lpstr>Roboto Mono</vt:lpstr>
      <vt:lpstr>Notebook Lesson by Slidesgo</vt:lpstr>
      <vt:lpstr>DISASTER MANAGEMENT</vt:lpstr>
      <vt:lpstr>Table of Contents!</vt:lpstr>
      <vt:lpstr>01</vt:lpstr>
      <vt:lpstr>Introduction</vt:lpstr>
      <vt:lpstr>TYPES</vt:lpstr>
      <vt:lpstr>Natural disaster</vt:lpstr>
      <vt:lpstr>Natural Disaster</vt:lpstr>
      <vt:lpstr>    Blizzard</vt:lpstr>
      <vt:lpstr>   Artificial disaster</vt:lpstr>
      <vt:lpstr>Threat</vt:lpstr>
      <vt:lpstr>Collapsed structure</vt:lpstr>
      <vt:lpstr>  </vt:lpstr>
      <vt:lpstr>432</vt:lpstr>
      <vt:lpstr>  </vt:lpstr>
      <vt:lpstr>    Disadvantages of  natural disasters </vt:lpstr>
      <vt:lpstr> Disaster management</vt:lpstr>
      <vt:lpstr> Types of Disaster management</vt:lpstr>
      <vt:lpstr> Disaster Preparedness</vt:lpstr>
      <vt:lpstr> Disaster Response</vt:lpstr>
      <vt:lpstr> Disaster Recovery</vt:lpstr>
      <vt:lpstr>DONE BY </vt:lpstr>
      <vt:lpstr> THANK  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MANAGEMENT</dc:title>
  <dc:creator>Admin</dc:creator>
  <cp:lastModifiedBy>Admin</cp:lastModifiedBy>
  <cp:revision>13</cp:revision>
  <dcterms:modified xsi:type="dcterms:W3CDTF">2023-01-28T08:40:44Z</dcterms:modified>
</cp:coreProperties>
</file>